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</p:sldIdLst>
  <p:sldSz cx="18288000" cy="10287000"/>
  <p:notesSz cx="6858000" cy="9144000"/>
  <p:embeddedFontLst>
    <p:embeddedFont>
      <p:font typeface="Arimo" panose="020B0604020202020204" charset="0"/>
      <p:regular r:id="rId32"/>
    </p:embeddedFont>
    <p:embeddedFont>
      <p:font typeface="Arimo Bold" panose="020B0604020202020204" charset="0"/>
      <p:regular r:id="rId33"/>
    </p:embeddedFont>
    <p:embeddedFont>
      <p:font typeface="Calibri (MS)" panose="020B0604020202020204" charset="0"/>
      <p:regular r:id="rId34"/>
    </p:embeddedFont>
    <p:embeddedFont>
      <p:font typeface="Calibri (MS) Bold" panose="020B0604020202020204" charset="0"/>
      <p:regular r:id="rId35"/>
    </p:embeddedFont>
    <p:embeddedFont>
      <p:font typeface="Calibri (MS) Italics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1014" y="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amd.com/en/products/system-on-modules/kria/k26/kr260-robotics-starter-kit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hyperlink" Target="https://xilinx.github.io/kria-apps-docs/kv260/2022.1/build/html/docs/smartcamera/docs/sw_arch_platform.htm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amd.com/r/en-US/pg338-dpu/Resource-Utilization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417399" y="1730694"/>
            <a:ext cx="6996653" cy="4786649"/>
          </a:xfrm>
          <a:custGeom>
            <a:avLst/>
            <a:gdLst/>
            <a:ahLst/>
            <a:cxnLst/>
            <a:rect l="l" t="t" r="r" b="b"/>
            <a:pathLst>
              <a:path w="6996653" h="4786649">
                <a:moveTo>
                  <a:pt x="0" y="0"/>
                </a:moveTo>
                <a:lnTo>
                  <a:pt x="6996653" y="0"/>
                </a:lnTo>
                <a:lnTo>
                  <a:pt x="6996653" y="4786649"/>
                </a:lnTo>
                <a:lnTo>
                  <a:pt x="0" y="4786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3" t="-23760" r="-1847" b="-27000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9588611" y="6383333"/>
            <a:ext cx="6245189" cy="3514318"/>
          </a:xfrm>
          <a:custGeom>
            <a:avLst/>
            <a:gdLst/>
            <a:ahLst/>
            <a:cxnLst/>
            <a:rect l="l" t="t" r="r" b="b"/>
            <a:pathLst>
              <a:path w="6245189" h="3514318">
                <a:moveTo>
                  <a:pt x="0" y="0"/>
                </a:moveTo>
                <a:lnTo>
                  <a:pt x="6245189" y="0"/>
                </a:lnTo>
                <a:lnTo>
                  <a:pt x="6245189" y="3514318"/>
                </a:lnTo>
                <a:lnTo>
                  <a:pt x="0" y="35143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816632" y="6729733"/>
            <a:ext cx="6198187" cy="3330006"/>
          </a:xfrm>
          <a:custGeom>
            <a:avLst/>
            <a:gdLst/>
            <a:ahLst/>
            <a:cxnLst/>
            <a:rect l="l" t="t" r="r" b="b"/>
            <a:pathLst>
              <a:path w="6198187" h="3330006">
                <a:moveTo>
                  <a:pt x="0" y="0"/>
                </a:moveTo>
                <a:lnTo>
                  <a:pt x="6198187" y="0"/>
                </a:lnTo>
                <a:lnTo>
                  <a:pt x="6198187" y="3330006"/>
                </a:lnTo>
                <a:lnTo>
                  <a:pt x="0" y="3330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Freeform 10"/>
          <p:cNvSpPr/>
          <p:nvPr/>
        </p:nvSpPr>
        <p:spPr>
          <a:xfrm>
            <a:off x="9089268" y="1994466"/>
            <a:ext cx="7506573" cy="4233605"/>
          </a:xfrm>
          <a:custGeom>
            <a:avLst/>
            <a:gdLst/>
            <a:ahLst/>
            <a:cxnLst/>
            <a:rect l="l" t="t" r="r" b="b"/>
            <a:pathLst>
              <a:path w="7506573" h="4233605">
                <a:moveTo>
                  <a:pt x="0" y="0"/>
                </a:moveTo>
                <a:lnTo>
                  <a:pt x="7506573" y="0"/>
                </a:lnTo>
                <a:lnTo>
                  <a:pt x="7506573" y="4233605"/>
                </a:lnTo>
                <a:lnTo>
                  <a:pt x="0" y="42336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1" name="TextBox 11"/>
          <p:cNvSpPr txBox="1"/>
          <p:nvPr/>
        </p:nvSpPr>
        <p:spPr>
          <a:xfrm>
            <a:off x="91440" y="83820"/>
            <a:ext cx="45567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ANADOLOGIC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" y="1040606"/>
            <a:ext cx="11704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2024 - 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-9525" y="1693069"/>
            <a:ext cx="18295982" cy="8574402"/>
          </a:xfrm>
          <a:custGeom>
            <a:avLst/>
            <a:gdLst/>
            <a:ahLst/>
            <a:cxnLst/>
            <a:rect l="l" t="t" r="r" b="b"/>
            <a:pathLst>
              <a:path w="18295982" h="8574402">
                <a:moveTo>
                  <a:pt x="0" y="0"/>
                </a:moveTo>
                <a:lnTo>
                  <a:pt x="18295982" y="0"/>
                </a:lnTo>
                <a:lnTo>
                  <a:pt x="18295982" y="8574402"/>
                </a:lnTo>
                <a:lnTo>
                  <a:pt x="0" y="8574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" b="-277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TextBox 8"/>
          <p:cNvSpPr txBox="1"/>
          <p:nvPr/>
        </p:nvSpPr>
        <p:spPr>
          <a:xfrm>
            <a:off x="91440" y="83820"/>
            <a:ext cx="45567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ANADOLOGIC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" y="1040606"/>
            <a:ext cx="11704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IP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91440" y="1788319"/>
            <a:ext cx="18059613" cy="8431582"/>
          </a:xfrm>
          <a:custGeom>
            <a:avLst/>
            <a:gdLst/>
            <a:ahLst/>
            <a:cxnLst/>
            <a:rect l="l" t="t" r="r" b="b"/>
            <a:pathLst>
              <a:path w="18059613" h="8431582">
                <a:moveTo>
                  <a:pt x="0" y="0"/>
                </a:moveTo>
                <a:lnTo>
                  <a:pt x="18059613" y="0"/>
                </a:lnTo>
                <a:lnTo>
                  <a:pt x="18059613" y="8431582"/>
                </a:lnTo>
                <a:lnTo>
                  <a:pt x="0" y="8431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TextBox 8"/>
          <p:cNvSpPr txBox="1"/>
          <p:nvPr/>
        </p:nvSpPr>
        <p:spPr>
          <a:xfrm>
            <a:off x="91440" y="83820"/>
            <a:ext cx="4556760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ANADOL</a:t>
            </a:r>
            <a:r>
              <a:rPr lang="tr-TR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" y="1040606"/>
            <a:ext cx="11704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2844998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FPGA-accelerated industrial inspection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79367" y="4303004"/>
            <a:ext cx="10340721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Defect Detection with AMD Kria KR260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114300"/>
            <a:ext cx="39471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What we'll cover today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24997" y="3525002"/>
            <a:ext cx="540001" cy="705002"/>
            <a:chOff x="0" y="0"/>
            <a:chExt cx="720001" cy="9400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0000" cy="940000"/>
            </a:xfrm>
            <a:custGeom>
              <a:avLst/>
              <a:gdLst/>
              <a:ahLst/>
              <a:cxnLst/>
              <a:rect l="l" t="t" r="r" b="b"/>
              <a:pathLst>
                <a:path w="720000" h="940000">
                  <a:moveTo>
                    <a:pt x="0" y="0"/>
                  </a:moveTo>
                  <a:lnTo>
                    <a:pt x="720000" y="0"/>
                  </a:lnTo>
                  <a:lnTo>
                    <a:pt x="720000" y="940000"/>
                  </a:lnTo>
                  <a:lnTo>
                    <a:pt x="0" y="94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507" r="-117508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720001" cy="1006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27C4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47503" y="3525002"/>
            <a:ext cx="68580" cy="705002"/>
            <a:chOff x="0" y="0"/>
            <a:chExt cx="91440" cy="940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440" cy="940054"/>
            </a:xfrm>
            <a:custGeom>
              <a:avLst/>
              <a:gdLst/>
              <a:ahLst/>
              <a:cxnLst/>
              <a:rect l="l" t="t" r="r" b="b"/>
              <a:pathLst>
                <a:path w="91440" h="940054">
                  <a:moveTo>
                    <a:pt x="0" y="0"/>
                  </a:moveTo>
                  <a:lnTo>
                    <a:pt x="91440" y="0"/>
                  </a:lnTo>
                  <a:lnTo>
                    <a:pt x="91440" y="940054"/>
                  </a:lnTo>
                  <a:lnTo>
                    <a:pt x="0" y="940054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617499" y="3525002"/>
            <a:ext cx="6224997" cy="705002"/>
            <a:chOff x="0" y="0"/>
            <a:chExt cx="8299996" cy="9400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300000" cy="940000"/>
            </a:xfrm>
            <a:custGeom>
              <a:avLst/>
              <a:gdLst/>
              <a:ahLst/>
              <a:cxnLst/>
              <a:rect l="l" t="t" r="r" b="b"/>
              <a:pathLst>
                <a:path w="8300000" h="940000">
                  <a:moveTo>
                    <a:pt x="0" y="0"/>
                  </a:moveTo>
                  <a:lnTo>
                    <a:pt x="8300000" y="0"/>
                  </a:lnTo>
                  <a:lnTo>
                    <a:pt x="8300000" y="940000"/>
                  </a:lnTo>
                  <a:lnTo>
                    <a:pt x="0" y="94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048" b="-122048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8299996" cy="1006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340004" y="3525002"/>
            <a:ext cx="540001" cy="705002"/>
            <a:chOff x="0" y="0"/>
            <a:chExt cx="720001" cy="9400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0000" cy="940000"/>
            </a:xfrm>
            <a:custGeom>
              <a:avLst/>
              <a:gdLst/>
              <a:ahLst/>
              <a:cxnLst/>
              <a:rect l="l" t="t" r="r" b="b"/>
              <a:pathLst>
                <a:path w="720000" h="940000">
                  <a:moveTo>
                    <a:pt x="0" y="0"/>
                  </a:moveTo>
                  <a:lnTo>
                    <a:pt x="720000" y="0"/>
                  </a:lnTo>
                  <a:lnTo>
                    <a:pt x="720000" y="940000"/>
                  </a:lnTo>
                  <a:lnTo>
                    <a:pt x="0" y="94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507" r="-117508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720001" cy="1006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27C4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962501" y="3525002"/>
            <a:ext cx="68580" cy="705002"/>
            <a:chOff x="0" y="0"/>
            <a:chExt cx="91440" cy="94000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" cy="940054"/>
            </a:xfrm>
            <a:custGeom>
              <a:avLst/>
              <a:gdLst/>
              <a:ahLst/>
              <a:cxnLst/>
              <a:rect l="l" t="t" r="r" b="b"/>
              <a:pathLst>
                <a:path w="91440" h="940054">
                  <a:moveTo>
                    <a:pt x="0" y="0"/>
                  </a:moveTo>
                  <a:lnTo>
                    <a:pt x="91440" y="0"/>
                  </a:lnTo>
                  <a:lnTo>
                    <a:pt x="91440" y="940054"/>
                  </a:lnTo>
                  <a:lnTo>
                    <a:pt x="0" y="940054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232497" y="3525002"/>
            <a:ext cx="6224997" cy="705000"/>
            <a:chOff x="0" y="0"/>
            <a:chExt cx="8299996" cy="94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300000" cy="939997"/>
            </a:xfrm>
            <a:custGeom>
              <a:avLst/>
              <a:gdLst/>
              <a:ahLst/>
              <a:cxnLst/>
              <a:rect l="l" t="t" r="r" b="b"/>
              <a:pathLst>
                <a:path w="8300000" h="939997">
                  <a:moveTo>
                    <a:pt x="0" y="0"/>
                  </a:moveTo>
                  <a:lnTo>
                    <a:pt x="8300000" y="0"/>
                  </a:lnTo>
                  <a:lnTo>
                    <a:pt x="8300000" y="939997"/>
                  </a:lnTo>
                  <a:lnTo>
                    <a:pt x="0" y="9399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048" b="-122049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8299996" cy="1006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 &amp; System Overview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24997" y="4950000"/>
            <a:ext cx="540001" cy="705002"/>
            <a:chOff x="0" y="0"/>
            <a:chExt cx="720001" cy="9400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20000" cy="940000"/>
            </a:xfrm>
            <a:custGeom>
              <a:avLst/>
              <a:gdLst/>
              <a:ahLst/>
              <a:cxnLst/>
              <a:rect l="l" t="t" r="r" b="b"/>
              <a:pathLst>
                <a:path w="720000" h="940000">
                  <a:moveTo>
                    <a:pt x="0" y="0"/>
                  </a:moveTo>
                  <a:lnTo>
                    <a:pt x="720000" y="0"/>
                  </a:lnTo>
                  <a:lnTo>
                    <a:pt x="720000" y="940000"/>
                  </a:lnTo>
                  <a:lnTo>
                    <a:pt x="0" y="94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507" r="-117508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720001" cy="1006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27C4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347503" y="4950000"/>
            <a:ext cx="68580" cy="705002"/>
            <a:chOff x="0" y="0"/>
            <a:chExt cx="91440" cy="94000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440" cy="940054"/>
            </a:xfrm>
            <a:custGeom>
              <a:avLst/>
              <a:gdLst/>
              <a:ahLst/>
              <a:cxnLst/>
              <a:rect l="l" t="t" r="r" b="b"/>
              <a:pathLst>
                <a:path w="91440" h="940054">
                  <a:moveTo>
                    <a:pt x="0" y="0"/>
                  </a:moveTo>
                  <a:lnTo>
                    <a:pt x="91440" y="0"/>
                  </a:lnTo>
                  <a:lnTo>
                    <a:pt x="91440" y="940054"/>
                  </a:lnTo>
                  <a:lnTo>
                    <a:pt x="0" y="940054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617499" y="4950000"/>
            <a:ext cx="6224997" cy="705000"/>
            <a:chOff x="0" y="0"/>
            <a:chExt cx="8299996" cy="94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300000" cy="939997"/>
            </a:xfrm>
            <a:custGeom>
              <a:avLst/>
              <a:gdLst/>
              <a:ahLst/>
              <a:cxnLst/>
              <a:rect l="l" t="t" r="r" b="b"/>
              <a:pathLst>
                <a:path w="8300000" h="939997">
                  <a:moveTo>
                    <a:pt x="0" y="0"/>
                  </a:moveTo>
                  <a:lnTo>
                    <a:pt x="8300000" y="0"/>
                  </a:lnTo>
                  <a:lnTo>
                    <a:pt x="8300000" y="939997"/>
                  </a:lnTo>
                  <a:lnTo>
                    <a:pt x="0" y="9399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048" b="-122049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8299996" cy="1006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Developing on Kria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340004" y="4950000"/>
            <a:ext cx="540001" cy="705002"/>
            <a:chOff x="0" y="0"/>
            <a:chExt cx="720001" cy="94000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20000" cy="940000"/>
            </a:xfrm>
            <a:custGeom>
              <a:avLst/>
              <a:gdLst/>
              <a:ahLst/>
              <a:cxnLst/>
              <a:rect l="l" t="t" r="r" b="b"/>
              <a:pathLst>
                <a:path w="720000" h="940000">
                  <a:moveTo>
                    <a:pt x="0" y="0"/>
                  </a:moveTo>
                  <a:lnTo>
                    <a:pt x="720000" y="0"/>
                  </a:lnTo>
                  <a:lnTo>
                    <a:pt x="720000" y="940000"/>
                  </a:lnTo>
                  <a:lnTo>
                    <a:pt x="0" y="94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507" r="-117508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720001" cy="1006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27C4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962501" y="4950000"/>
            <a:ext cx="68580" cy="705002"/>
            <a:chOff x="0" y="0"/>
            <a:chExt cx="91440" cy="94000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1440" cy="940054"/>
            </a:xfrm>
            <a:custGeom>
              <a:avLst/>
              <a:gdLst/>
              <a:ahLst/>
              <a:cxnLst/>
              <a:rect l="l" t="t" r="r" b="b"/>
              <a:pathLst>
                <a:path w="91440" h="940054">
                  <a:moveTo>
                    <a:pt x="0" y="0"/>
                  </a:moveTo>
                  <a:lnTo>
                    <a:pt x="91440" y="0"/>
                  </a:lnTo>
                  <a:lnTo>
                    <a:pt x="91440" y="940054"/>
                  </a:lnTo>
                  <a:lnTo>
                    <a:pt x="0" y="940054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232497" y="4950000"/>
            <a:ext cx="6224997" cy="705000"/>
            <a:chOff x="0" y="0"/>
            <a:chExt cx="8299996" cy="940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300000" cy="939997"/>
            </a:xfrm>
            <a:custGeom>
              <a:avLst/>
              <a:gdLst/>
              <a:ahLst/>
              <a:cxnLst/>
              <a:rect l="l" t="t" r="r" b="b"/>
              <a:pathLst>
                <a:path w="8300000" h="939997">
                  <a:moveTo>
                    <a:pt x="0" y="0"/>
                  </a:moveTo>
                  <a:lnTo>
                    <a:pt x="8300000" y="0"/>
                  </a:lnTo>
                  <a:lnTo>
                    <a:pt x="8300000" y="939997"/>
                  </a:lnTo>
                  <a:lnTo>
                    <a:pt x="0" y="9399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048" b="-122049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8299996" cy="1006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Inference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724997" y="6374997"/>
            <a:ext cx="540001" cy="705002"/>
            <a:chOff x="0" y="0"/>
            <a:chExt cx="720001" cy="94000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20000" cy="940000"/>
            </a:xfrm>
            <a:custGeom>
              <a:avLst/>
              <a:gdLst/>
              <a:ahLst/>
              <a:cxnLst/>
              <a:rect l="l" t="t" r="r" b="b"/>
              <a:pathLst>
                <a:path w="720000" h="940000">
                  <a:moveTo>
                    <a:pt x="0" y="0"/>
                  </a:moveTo>
                  <a:lnTo>
                    <a:pt x="720000" y="0"/>
                  </a:lnTo>
                  <a:lnTo>
                    <a:pt x="720000" y="940000"/>
                  </a:lnTo>
                  <a:lnTo>
                    <a:pt x="0" y="94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507" r="-117508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720001" cy="1006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27C4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347503" y="6374997"/>
            <a:ext cx="68580" cy="705002"/>
            <a:chOff x="0" y="0"/>
            <a:chExt cx="91440" cy="94000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1440" cy="940054"/>
            </a:xfrm>
            <a:custGeom>
              <a:avLst/>
              <a:gdLst/>
              <a:ahLst/>
              <a:cxnLst/>
              <a:rect l="l" t="t" r="r" b="b"/>
              <a:pathLst>
                <a:path w="91440" h="940054">
                  <a:moveTo>
                    <a:pt x="0" y="0"/>
                  </a:moveTo>
                  <a:lnTo>
                    <a:pt x="91440" y="0"/>
                  </a:lnTo>
                  <a:lnTo>
                    <a:pt x="91440" y="940054"/>
                  </a:lnTo>
                  <a:lnTo>
                    <a:pt x="0" y="940054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617499" y="6374997"/>
            <a:ext cx="6224997" cy="705000"/>
            <a:chOff x="0" y="0"/>
            <a:chExt cx="8299996" cy="940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300000" cy="939997"/>
            </a:xfrm>
            <a:custGeom>
              <a:avLst/>
              <a:gdLst/>
              <a:ahLst/>
              <a:cxnLst/>
              <a:rect l="l" t="t" r="r" b="b"/>
              <a:pathLst>
                <a:path w="8300000" h="939997">
                  <a:moveTo>
                    <a:pt x="0" y="0"/>
                  </a:moveTo>
                  <a:lnTo>
                    <a:pt x="8300000" y="0"/>
                  </a:lnTo>
                  <a:lnTo>
                    <a:pt x="8300000" y="939997"/>
                  </a:lnTo>
                  <a:lnTo>
                    <a:pt x="0" y="9399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048" b="-122049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66675"/>
              <a:ext cx="8299996" cy="1006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340004" y="6374997"/>
            <a:ext cx="540001" cy="705002"/>
            <a:chOff x="0" y="0"/>
            <a:chExt cx="720001" cy="94000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20000" cy="940000"/>
            </a:xfrm>
            <a:custGeom>
              <a:avLst/>
              <a:gdLst/>
              <a:ahLst/>
              <a:cxnLst/>
              <a:rect l="l" t="t" r="r" b="b"/>
              <a:pathLst>
                <a:path w="720000" h="940000">
                  <a:moveTo>
                    <a:pt x="0" y="0"/>
                  </a:moveTo>
                  <a:lnTo>
                    <a:pt x="720000" y="0"/>
                  </a:lnTo>
                  <a:lnTo>
                    <a:pt x="720000" y="940000"/>
                  </a:lnTo>
                  <a:lnTo>
                    <a:pt x="0" y="94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507" r="-117508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66675"/>
              <a:ext cx="720001" cy="1006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27C4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962501" y="6374997"/>
            <a:ext cx="68580" cy="705002"/>
            <a:chOff x="0" y="0"/>
            <a:chExt cx="91440" cy="94000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1440" cy="940054"/>
            </a:xfrm>
            <a:custGeom>
              <a:avLst/>
              <a:gdLst/>
              <a:ahLst/>
              <a:cxnLst/>
              <a:rect l="l" t="t" r="r" b="b"/>
              <a:pathLst>
                <a:path w="91440" h="940054">
                  <a:moveTo>
                    <a:pt x="0" y="0"/>
                  </a:moveTo>
                  <a:lnTo>
                    <a:pt x="91440" y="0"/>
                  </a:lnTo>
                  <a:lnTo>
                    <a:pt x="91440" y="940054"/>
                  </a:lnTo>
                  <a:lnTo>
                    <a:pt x="0" y="940054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232497" y="6374997"/>
            <a:ext cx="6224997" cy="705002"/>
            <a:chOff x="0" y="0"/>
            <a:chExt cx="8299996" cy="94000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300000" cy="940000"/>
            </a:xfrm>
            <a:custGeom>
              <a:avLst/>
              <a:gdLst/>
              <a:ahLst/>
              <a:cxnLst/>
              <a:rect l="l" t="t" r="r" b="b"/>
              <a:pathLst>
                <a:path w="8300000" h="940000">
                  <a:moveTo>
                    <a:pt x="0" y="0"/>
                  </a:moveTo>
                  <a:lnTo>
                    <a:pt x="8300000" y="0"/>
                  </a:lnTo>
                  <a:lnTo>
                    <a:pt x="8300000" y="940000"/>
                  </a:lnTo>
                  <a:lnTo>
                    <a:pt x="0" y="94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048" b="-122048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66675"/>
              <a:ext cx="8299996" cy="1006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Model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724997" y="7800003"/>
            <a:ext cx="540001" cy="705002"/>
            <a:chOff x="0" y="0"/>
            <a:chExt cx="720001" cy="94000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20000" cy="940000"/>
            </a:xfrm>
            <a:custGeom>
              <a:avLst/>
              <a:gdLst/>
              <a:ahLst/>
              <a:cxnLst/>
              <a:rect l="l" t="t" r="r" b="b"/>
              <a:pathLst>
                <a:path w="720000" h="940000">
                  <a:moveTo>
                    <a:pt x="0" y="0"/>
                  </a:moveTo>
                  <a:lnTo>
                    <a:pt x="720000" y="0"/>
                  </a:lnTo>
                  <a:lnTo>
                    <a:pt x="720000" y="940000"/>
                  </a:lnTo>
                  <a:lnTo>
                    <a:pt x="0" y="94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507" r="-117508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66675"/>
              <a:ext cx="720001" cy="1006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27C4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347503" y="7800003"/>
            <a:ext cx="68580" cy="705002"/>
            <a:chOff x="0" y="0"/>
            <a:chExt cx="91440" cy="94000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1440" cy="940054"/>
            </a:xfrm>
            <a:custGeom>
              <a:avLst/>
              <a:gdLst/>
              <a:ahLst/>
              <a:cxnLst/>
              <a:rect l="l" t="t" r="r" b="b"/>
              <a:pathLst>
                <a:path w="91440" h="940054">
                  <a:moveTo>
                    <a:pt x="0" y="0"/>
                  </a:moveTo>
                  <a:lnTo>
                    <a:pt x="91440" y="0"/>
                  </a:lnTo>
                  <a:lnTo>
                    <a:pt x="91440" y="940054"/>
                  </a:lnTo>
                  <a:lnTo>
                    <a:pt x="0" y="940054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617499" y="7800003"/>
            <a:ext cx="6224997" cy="705002"/>
            <a:chOff x="0" y="0"/>
            <a:chExt cx="8299996" cy="94000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300000" cy="940000"/>
            </a:xfrm>
            <a:custGeom>
              <a:avLst/>
              <a:gdLst/>
              <a:ahLst/>
              <a:cxnLst/>
              <a:rect l="l" t="t" r="r" b="b"/>
              <a:pathLst>
                <a:path w="8300000" h="940000">
                  <a:moveTo>
                    <a:pt x="0" y="0"/>
                  </a:moveTo>
                  <a:lnTo>
                    <a:pt x="8300000" y="0"/>
                  </a:lnTo>
                  <a:lnTo>
                    <a:pt x="8300000" y="940000"/>
                  </a:lnTo>
                  <a:lnTo>
                    <a:pt x="0" y="94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048" b="-122048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66675"/>
              <a:ext cx="8299996" cy="1006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340004" y="7800003"/>
            <a:ext cx="540001" cy="705002"/>
            <a:chOff x="0" y="0"/>
            <a:chExt cx="720001" cy="94000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20000" cy="940000"/>
            </a:xfrm>
            <a:custGeom>
              <a:avLst/>
              <a:gdLst/>
              <a:ahLst/>
              <a:cxnLst/>
              <a:rect l="l" t="t" r="r" b="b"/>
              <a:pathLst>
                <a:path w="720000" h="940000">
                  <a:moveTo>
                    <a:pt x="0" y="0"/>
                  </a:moveTo>
                  <a:lnTo>
                    <a:pt x="720000" y="0"/>
                  </a:lnTo>
                  <a:lnTo>
                    <a:pt x="720000" y="940000"/>
                  </a:lnTo>
                  <a:lnTo>
                    <a:pt x="0" y="94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507" r="-117508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720001" cy="1006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27C4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962501" y="7800003"/>
            <a:ext cx="68580" cy="705002"/>
            <a:chOff x="0" y="0"/>
            <a:chExt cx="91440" cy="94000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1440" cy="940054"/>
            </a:xfrm>
            <a:custGeom>
              <a:avLst/>
              <a:gdLst/>
              <a:ahLst/>
              <a:cxnLst/>
              <a:rect l="l" t="t" r="r" b="b"/>
              <a:pathLst>
                <a:path w="91440" h="940054">
                  <a:moveTo>
                    <a:pt x="0" y="0"/>
                  </a:moveTo>
                  <a:lnTo>
                    <a:pt x="91440" y="0"/>
                  </a:lnTo>
                  <a:lnTo>
                    <a:pt x="91440" y="940054"/>
                  </a:lnTo>
                  <a:lnTo>
                    <a:pt x="0" y="940054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232497" y="7800003"/>
            <a:ext cx="6224997" cy="705002"/>
            <a:chOff x="0" y="0"/>
            <a:chExt cx="8299996" cy="940003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300000" cy="940000"/>
            </a:xfrm>
            <a:custGeom>
              <a:avLst/>
              <a:gdLst/>
              <a:ahLst/>
              <a:cxnLst/>
              <a:rect l="l" t="t" r="r" b="b"/>
              <a:pathLst>
                <a:path w="8300000" h="940000">
                  <a:moveTo>
                    <a:pt x="0" y="0"/>
                  </a:moveTo>
                  <a:lnTo>
                    <a:pt x="8300000" y="0"/>
                  </a:lnTo>
                  <a:lnTo>
                    <a:pt x="8300000" y="940000"/>
                  </a:lnTo>
                  <a:lnTo>
                    <a:pt x="0" y="94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048" b="-122048"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66675"/>
              <a:ext cx="8299996" cy="10066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&amp; Conclusion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38709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2250567"/>
            <a:ext cx="8561070" cy="446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Challenge</a:t>
            </a:r>
          </a:p>
          <a:p>
            <a:pPr algn="just">
              <a:lnSpc>
                <a:spcPts val="3600"/>
              </a:lnSpc>
            </a:pPr>
            <a:endParaRPr lang="en-US" sz="48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5" lvl="1" indent="-271462" algn="just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Industrial lines need fast, accurate defect detection</a:t>
            </a:r>
          </a:p>
          <a:p>
            <a:pPr marL="542925" lvl="1" indent="-271462"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5" lvl="1" indent="-271462"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5" lvl="1" indent="-271462" algn="just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CPU: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Bottleneck at preprocessing and AI inference</a:t>
            </a:r>
          </a:p>
          <a:p>
            <a:pPr marL="542925" lvl="1" indent="-271462"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5" lvl="1" indent="-271462"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5" lvl="1" indent="-271462" algn="just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GPU: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 power + non-deterministic latency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35440" y="2250567"/>
            <a:ext cx="8775382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Our Goal</a:t>
            </a:r>
          </a:p>
          <a:p>
            <a:pPr algn="just">
              <a:lnSpc>
                <a:spcPts val="3600"/>
              </a:lnSpc>
            </a:pPr>
            <a:endParaRPr lang="en-US" sz="48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5" lvl="1" indent="-271462" algn="just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 &amp; accurate detection: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FPGA-based pipeline with deterministic latency </a:t>
            </a:r>
          </a:p>
          <a:p>
            <a:pPr marL="542925" lvl="1" indent="-271462"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5" lvl="1" indent="-271462" algn="just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CPU bottleneck: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Hardware pre-processing + DPU inference fully offloaded to PL </a:t>
            </a:r>
          </a:p>
          <a:p>
            <a:pPr marL="542925" lvl="1" indent="-271462"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5" lvl="1" indent="-271462" algn="just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GPU power/latency issues: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Kria KR260 gives low power, real-time deterministic processing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What are we solving?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6571059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SOLUTION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End-to-end defect detection on KR260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2319042"/>
            <a:ext cx="17953591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971" lvl="1" indent="-275986" algn="just">
              <a:lnSpc>
                <a:spcPts val="3659"/>
              </a:lnSpc>
              <a:buFont typeface="Arial"/>
              <a:buChar char="•"/>
            </a:pPr>
            <a:r>
              <a:rPr lang="en-US" sz="304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One board does it all: </a:t>
            </a:r>
            <a:r>
              <a:rPr lang="en-US" sz="30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capture on the PS, accelerate preprocessing and inference in the PL, then activate the actuator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59715" y="5160712"/>
            <a:ext cx="3148574" cy="1603575"/>
            <a:chOff x="0" y="0"/>
            <a:chExt cx="4198099" cy="2138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98112" cy="2138049"/>
            </a:xfrm>
            <a:custGeom>
              <a:avLst/>
              <a:gdLst/>
              <a:ahLst/>
              <a:cxnLst/>
              <a:rect l="l" t="t" r="r" b="b"/>
              <a:pathLst>
                <a:path w="4198112" h="2138049">
                  <a:moveTo>
                    <a:pt x="0" y="356363"/>
                  </a:moveTo>
                  <a:cubicBezTo>
                    <a:pt x="0" y="159512"/>
                    <a:pt x="159512" y="0"/>
                    <a:pt x="356362" y="0"/>
                  </a:cubicBezTo>
                  <a:lnTo>
                    <a:pt x="3841750" y="0"/>
                  </a:lnTo>
                  <a:cubicBezTo>
                    <a:pt x="4038600" y="0"/>
                    <a:pt x="4198112" y="159512"/>
                    <a:pt x="4198112" y="356363"/>
                  </a:cubicBezTo>
                  <a:lnTo>
                    <a:pt x="4198112" y="1781686"/>
                  </a:lnTo>
                  <a:cubicBezTo>
                    <a:pt x="4198112" y="1978537"/>
                    <a:pt x="4038600" y="2138049"/>
                    <a:pt x="3841750" y="2138049"/>
                  </a:cubicBezTo>
                  <a:lnTo>
                    <a:pt x="356362" y="2138049"/>
                  </a:lnTo>
                  <a:cubicBezTo>
                    <a:pt x="159512" y="2138049"/>
                    <a:pt x="0" y="1978537"/>
                    <a:pt x="0" y="1781686"/>
                  </a:cubicBezTo>
                  <a:close/>
                </a:path>
              </a:pathLst>
            </a:custGeom>
            <a:solidFill>
              <a:srgbClr val="EAF6EF"/>
            </a:solidFill>
            <a:ln w="28575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198099" cy="218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49"/>
                </a:lnSpc>
              </a:pPr>
              <a:r>
                <a:rPr lang="en-US" sz="2124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Camera</a:t>
              </a:r>
            </a:p>
            <a:p>
              <a:pPr algn="ctr">
                <a:lnSpc>
                  <a:spcPts val="2369"/>
                </a:lnSpc>
              </a:pPr>
              <a:r>
                <a:rPr lang="en-US" sz="1974">
                  <a:solidFill>
                    <a:srgbClr val="0B6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GigE · Mono8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646199" y="5827500"/>
            <a:ext cx="330603" cy="269996"/>
            <a:chOff x="0" y="0"/>
            <a:chExt cx="440804" cy="3599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0817" cy="360045"/>
            </a:xfrm>
            <a:custGeom>
              <a:avLst/>
              <a:gdLst/>
              <a:ahLst/>
              <a:cxnLst/>
              <a:rect l="l" t="t" r="r" b="b"/>
              <a:pathLst>
                <a:path w="440817" h="360045">
                  <a:moveTo>
                    <a:pt x="0" y="90043"/>
                  </a:moveTo>
                  <a:lnTo>
                    <a:pt x="260858" y="90043"/>
                  </a:lnTo>
                  <a:lnTo>
                    <a:pt x="260858" y="0"/>
                  </a:lnTo>
                  <a:lnTo>
                    <a:pt x="440817" y="179959"/>
                  </a:lnTo>
                  <a:lnTo>
                    <a:pt x="260858" y="360045"/>
                  </a:lnTo>
                  <a:lnTo>
                    <a:pt x="260858" y="270002"/>
                  </a:lnTo>
                  <a:lnTo>
                    <a:pt x="0" y="270002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014711" y="5160712"/>
            <a:ext cx="3148574" cy="1603575"/>
            <a:chOff x="0" y="0"/>
            <a:chExt cx="4198099" cy="2138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98112" cy="2138049"/>
            </a:xfrm>
            <a:custGeom>
              <a:avLst/>
              <a:gdLst/>
              <a:ahLst/>
              <a:cxnLst/>
              <a:rect l="l" t="t" r="r" b="b"/>
              <a:pathLst>
                <a:path w="4198112" h="2138049">
                  <a:moveTo>
                    <a:pt x="0" y="356363"/>
                  </a:moveTo>
                  <a:cubicBezTo>
                    <a:pt x="0" y="159512"/>
                    <a:pt x="159512" y="0"/>
                    <a:pt x="356362" y="0"/>
                  </a:cubicBezTo>
                  <a:lnTo>
                    <a:pt x="3841750" y="0"/>
                  </a:lnTo>
                  <a:cubicBezTo>
                    <a:pt x="4038600" y="0"/>
                    <a:pt x="4198112" y="159512"/>
                    <a:pt x="4198112" y="356363"/>
                  </a:cubicBezTo>
                  <a:lnTo>
                    <a:pt x="4198112" y="1781686"/>
                  </a:lnTo>
                  <a:cubicBezTo>
                    <a:pt x="4198112" y="1978537"/>
                    <a:pt x="4038600" y="2138049"/>
                    <a:pt x="3841750" y="2138049"/>
                  </a:cubicBezTo>
                  <a:lnTo>
                    <a:pt x="356362" y="2138049"/>
                  </a:lnTo>
                  <a:cubicBezTo>
                    <a:pt x="159512" y="2138049"/>
                    <a:pt x="0" y="1978537"/>
                    <a:pt x="0" y="1781686"/>
                  </a:cubicBezTo>
                  <a:close/>
                </a:path>
              </a:pathLst>
            </a:custGeom>
            <a:solidFill>
              <a:srgbClr val="EAF6EF"/>
            </a:solidFill>
            <a:ln w="28575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198099" cy="218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49"/>
                </a:lnSpc>
              </a:pPr>
              <a:r>
                <a:rPr lang="en-US" sz="2124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Capture</a:t>
              </a:r>
            </a:p>
            <a:p>
              <a:pPr algn="ctr">
                <a:lnSpc>
                  <a:spcPts val="2369"/>
                </a:lnSpc>
              </a:pPr>
              <a:r>
                <a:rPr lang="en-US" sz="1974">
                  <a:solidFill>
                    <a:srgbClr val="0B6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Aravis (PS)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201195" y="5827500"/>
            <a:ext cx="330603" cy="269996"/>
            <a:chOff x="0" y="0"/>
            <a:chExt cx="440804" cy="3599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0817" cy="360045"/>
            </a:xfrm>
            <a:custGeom>
              <a:avLst/>
              <a:gdLst/>
              <a:ahLst/>
              <a:cxnLst/>
              <a:rect l="l" t="t" r="r" b="b"/>
              <a:pathLst>
                <a:path w="440817" h="360045">
                  <a:moveTo>
                    <a:pt x="0" y="90043"/>
                  </a:moveTo>
                  <a:lnTo>
                    <a:pt x="260858" y="90043"/>
                  </a:lnTo>
                  <a:lnTo>
                    <a:pt x="260858" y="0"/>
                  </a:lnTo>
                  <a:lnTo>
                    <a:pt x="440817" y="179959"/>
                  </a:lnTo>
                  <a:lnTo>
                    <a:pt x="260858" y="360045"/>
                  </a:lnTo>
                  <a:lnTo>
                    <a:pt x="260858" y="270002"/>
                  </a:lnTo>
                  <a:lnTo>
                    <a:pt x="0" y="270002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69708" y="5160712"/>
            <a:ext cx="3148574" cy="1603575"/>
            <a:chOff x="0" y="0"/>
            <a:chExt cx="4198099" cy="2138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98112" cy="2138049"/>
            </a:xfrm>
            <a:custGeom>
              <a:avLst/>
              <a:gdLst/>
              <a:ahLst/>
              <a:cxnLst/>
              <a:rect l="l" t="t" r="r" b="b"/>
              <a:pathLst>
                <a:path w="4198112" h="2138049">
                  <a:moveTo>
                    <a:pt x="0" y="356363"/>
                  </a:moveTo>
                  <a:cubicBezTo>
                    <a:pt x="0" y="159512"/>
                    <a:pt x="159512" y="0"/>
                    <a:pt x="356362" y="0"/>
                  </a:cubicBezTo>
                  <a:lnTo>
                    <a:pt x="3841750" y="0"/>
                  </a:lnTo>
                  <a:cubicBezTo>
                    <a:pt x="4038600" y="0"/>
                    <a:pt x="4198112" y="159512"/>
                    <a:pt x="4198112" y="356363"/>
                  </a:cubicBezTo>
                  <a:lnTo>
                    <a:pt x="4198112" y="1781686"/>
                  </a:lnTo>
                  <a:cubicBezTo>
                    <a:pt x="4198112" y="1978537"/>
                    <a:pt x="4038600" y="2138049"/>
                    <a:pt x="3841750" y="2138049"/>
                  </a:cubicBezTo>
                  <a:lnTo>
                    <a:pt x="356362" y="2138049"/>
                  </a:lnTo>
                  <a:cubicBezTo>
                    <a:pt x="159512" y="2138049"/>
                    <a:pt x="0" y="1978537"/>
                    <a:pt x="0" y="1781686"/>
                  </a:cubicBezTo>
                  <a:close/>
                </a:path>
              </a:pathLst>
            </a:custGeom>
            <a:solidFill>
              <a:srgbClr val="EAF6EF"/>
            </a:solidFill>
            <a:ln w="28575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4198099" cy="218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49"/>
                </a:lnSpc>
              </a:pPr>
              <a:r>
                <a:rPr lang="en-US" sz="2124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</a:t>
              </a:r>
            </a:p>
            <a:p>
              <a:pPr algn="ctr">
                <a:lnSpc>
                  <a:spcPts val="2369"/>
                </a:lnSpc>
              </a:pPr>
              <a:r>
                <a:rPr lang="en-US" sz="1974">
                  <a:solidFill>
                    <a:srgbClr val="0B6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v_multi_scaler (VVAS) (PL)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756202" y="5827500"/>
            <a:ext cx="330603" cy="269996"/>
            <a:chOff x="0" y="0"/>
            <a:chExt cx="440804" cy="35999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40817" cy="360045"/>
            </a:xfrm>
            <a:custGeom>
              <a:avLst/>
              <a:gdLst/>
              <a:ahLst/>
              <a:cxnLst/>
              <a:rect l="l" t="t" r="r" b="b"/>
              <a:pathLst>
                <a:path w="440817" h="360045">
                  <a:moveTo>
                    <a:pt x="0" y="90043"/>
                  </a:moveTo>
                  <a:lnTo>
                    <a:pt x="260858" y="90043"/>
                  </a:lnTo>
                  <a:lnTo>
                    <a:pt x="260858" y="0"/>
                  </a:lnTo>
                  <a:lnTo>
                    <a:pt x="440817" y="179959"/>
                  </a:lnTo>
                  <a:lnTo>
                    <a:pt x="260858" y="360045"/>
                  </a:lnTo>
                  <a:lnTo>
                    <a:pt x="260858" y="270002"/>
                  </a:lnTo>
                  <a:lnTo>
                    <a:pt x="0" y="270002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124714" y="5160712"/>
            <a:ext cx="3148574" cy="1603575"/>
            <a:chOff x="0" y="0"/>
            <a:chExt cx="4198099" cy="21381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198112" cy="2138049"/>
            </a:xfrm>
            <a:custGeom>
              <a:avLst/>
              <a:gdLst/>
              <a:ahLst/>
              <a:cxnLst/>
              <a:rect l="l" t="t" r="r" b="b"/>
              <a:pathLst>
                <a:path w="4198112" h="2138049">
                  <a:moveTo>
                    <a:pt x="0" y="356363"/>
                  </a:moveTo>
                  <a:cubicBezTo>
                    <a:pt x="0" y="159512"/>
                    <a:pt x="159512" y="0"/>
                    <a:pt x="356362" y="0"/>
                  </a:cubicBezTo>
                  <a:lnTo>
                    <a:pt x="3841750" y="0"/>
                  </a:lnTo>
                  <a:cubicBezTo>
                    <a:pt x="4038600" y="0"/>
                    <a:pt x="4198112" y="159512"/>
                    <a:pt x="4198112" y="356363"/>
                  </a:cubicBezTo>
                  <a:lnTo>
                    <a:pt x="4198112" y="1781686"/>
                  </a:lnTo>
                  <a:cubicBezTo>
                    <a:pt x="4198112" y="1978537"/>
                    <a:pt x="4038600" y="2138049"/>
                    <a:pt x="3841750" y="2138049"/>
                  </a:cubicBezTo>
                  <a:lnTo>
                    <a:pt x="356362" y="2138049"/>
                  </a:lnTo>
                  <a:cubicBezTo>
                    <a:pt x="159512" y="2138049"/>
                    <a:pt x="0" y="1978537"/>
                    <a:pt x="0" y="1781686"/>
                  </a:cubicBezTo>
                  <a:close/>
                </a:path>
              </a:pathLst>
            </a:custGeom>
            <a:solidFill>
              <a:srgbClr val="EAF6EF"/>
            </a:solidFill>
            <a:ln w="28575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4198099" cy="218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49"/>
                </a:lnSpc>
              </a:pPr>
              <a:r>
                <a:rPr lang="en-US" sz="2124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Inference</a:t>
              </a:r>
            </a:p>
            <a:p>
              <a:pPr algn="ctr">
                <a:lnSpc>
                  <a:spcPts val="2369"/>
                </a:lnSpc>
              </a:pPr>
              <a:r>
                <a:rPr lang="en-US" sz="1974">
                  <a:solidFill>
                    <a:srgbClr val="0B6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DPU B4096 (PL)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311198" y="5827500"/>
            <a:ext cx="330603" cy="269996"/>
            <a:chOff x="0" y="0"/>
            <a:chExt cx="440804" cy="35999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40817" cy="360045"/>
            </a:xfrm>
            <a:custGeom>
              <a:avLst/>
              <a:gdLst/>
              <a:ahLst/>
              <a:cxnLst/>
              <a:rect l="l" t="t" r="r" b="b"/>
              <a:pathLst>
                <a:path w="440817" h="360045">
                  <a:moveTo>
                    <a:pt x="0" y="90043"/>
                  </a:moveTo>
                  <a:lnTo>
                    <a:pt x="260858" y="90043"/>
                  </a:lnTo>
                  <a:lnTo>
                    <a:pt x="260858" y="0"/>
                  </a:lnTo>
                  <a:lnTo>
                    <a:pt x="440817" y="179959"/>
                  </a:lnTo>
                  <a:lnTo>
                    <a:pt x="260858" y="360045"/>
                  </a:lnTo>
                  <a:lnTo>
                    <a:pt x="260858" y="270002"/>
                  </a:lnTo>
                  <a:lnTo>
                    <a:pt x="0" y="270002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679711" y="5160712"/>
            <a:ext cx="3148574" cy="1603575"/>
            <a:chOff x="0" y="0"/>
            <a:chExt cx="4198099" cy="21381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198112" cy="2138049"/>
            </a:xfrm>
            <a:custGeom>
              <a:avLst/>
              <a:gdLst/>
              <a:ahLst/>
              <a:cxnLst/>
              <a:rect l="l" t="t" r="r" b="b"/>
              <a:pathLst>
                <a:path w="4198112" h="2138049">
                  <a:moveTo>
                    <a:pt x="0" y="356363"/>
                  </a:moveTo>
                  <a:cubicBezTo>
                    <a:pt x="0" y="159512"/>
                    <a:pt x="159512" y="0"/>
                    <a:pt x="356362" y="0"/>
                  </a:cubicBezTo>
                  <a:lnTo>
                    <a:pt x="3841750" y="0"/>
                  </a:lnTo>
                  <a:cubicBezTo>
                    <a:pt x="4038600" y="0"/>
                    <a:pt x="4198112" y="159512"/>
                    <a:pt x="4198112" y="356363"/>
                  </a:cubicBezTo>
                  <a:lnTo>
                    <a:pt x="4198112" y="1781686"/>
                  </a:lnTo>
                  <a:cubicBezTo>
                    <a:pt x="4198112" y="1978537"/>
                    <a:pt x="4038600" y="2138049"/>
                    <a:pt x="3841750" y="2138049"/>
                  </a:cubicBezTo>
                  <a:lnTo>
                    <a:pt x="356362" y="2138049"/>
                  </a:lnTo>
                  <a:cubicBezTo>
                    <a:pt x="159512" y="2138049"/>
                    <a:pt x="0" y="1978537"/>
                    <a:pt x="0" y="1781686"/>
                  </a:cubicBezTo>
                  <a:close/>
                </a:path>
              </a:pathLst>
            </a:custGeom>
            <a:solidFill>
              <a:srgbClr val="EAF6EF"/>
            </a:solidFill>
            <a:ln w="28575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4198099" cy="218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49"/>
                </a:lnSpc>
              </a:pPr>
              <a:r>
                <a:rPr lang="en-US" sz="2124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Actuator</a:t>
              </a:r>
            </a:p>
            <a:p>
              <a:pPr algn="ctr">
                <a:lnSpc>
                  <a:spcPts val="2369"/>
                </a:lnSpc>
              </a:pPr>
              <a:r>
                <a:rPr lang="en-US" sz="1974">
                  <a:solidFill>
                    <a:srgbClr val="0B6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OK / Defective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1028700" y="2700071"/>
            <a:ext cx="15591629" cy="6558229"/>
          </a:xfrm>
          <a:custGeom>
            <a:avLst/>
            <a:gdLst/>
            <a:ahLst/>
            <a:cxnLst/>
            <a:rect l="l" t="t" r="r" b="b"/>
            <a:pathLst>
              <a:path w="15591629" h="6558229">
                <a:moveTo>
                  <a:pt x="0" y="0"/>
                </a:moveTo>
                <a:lnTo>
                  <a:pt x="15591629" y="0"/>
                </a:lnTo>
                <a:lnTo>
                  <a:pt x="15591629" y="6558229"/>
                </a:lnTo>
                <a:lnTo>
                  <a:pt x="0" y="655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TextBox 8"/>
          <p:cNvSpPr txBox="1"/>
          <p:nvPr/>
        </p:nvSpPr>
        <p:spPr>
          <a:xfrm>
            <a:off x="91440" y="83820"/>
            <a:ext cx="5961459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SYSTEM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" y="1040606"/>
            <a:ext cx="11704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How the system 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234758" y="2573136"/>
            <a:ext cx="4803716" cy="6384795"/>
          </a:xfrm>
          <a:custGeom>
            <a:avLst/>
            <a:gdLst/>
            <a:ahLst/>
            <a:cxnLst/>
            <a:rect l="l" t="t" r="r" b="b"/>
            <a:pathLst>
              <a:path w="4803716" h="6384795">
                <a:moveTo>
                  <a:pt x="0" y="0"/>
                </a:moveTo>
                <a:lnTo>
                  <a:pt x="4803716" y="0"/>
                </a:lnTo>
                <a:lnTo>
                  <a:pt x="4803716" y="6384795"/>
                </a:lnTo>
                <a:lnTo>
                  <a:pt x="0" y="6384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6742142" y="2573136"/>
            <a:ext cx="4803716" cy="6384795"/>
          </a:xfrm>
          <a:custGeom>
            <a:avLst/>
            <a:gdLst/>
            <a:ahLst/>
            <a:cxnLst/>
            <a:rect l="l" t="t" r="r" b="b"/>
            <a:pathLst>
              <a:path w="4803716" h="6384795">
                <a:moveTo>
                  <a:pt x="0" y="0"/>
                </a:moveTo>
                <a:lnTo>
                  <a:pt x="4803716" y="0"/>
                </a:lnTo>
                <a:lnTo>
                  <a:pt x="4803716" y="6384795"/>
                </a:lnTo>
                <a:lnTo>
                  <a:pt x="0" y="6384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TextBox 9"/>
          <p:cNvSpPr txBox="1"/>
          <p:nvPr/>
        </p:nvSpPr>
        <p:spPr>
          <a:xfrm>
            <a:off x="91440" y="83820"/>
            <a:ext cx="9145191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CARTRIDGE CASE INSPECTOR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251164" y="2573136"/>
            <a:ext cx="4803716" cy="6384795"/>
          </a:xfrm>
          <a:custGeom>
            <a:avLst/>
            <a:gdLst/>
            <a:ahLst/>
            <a:cxnLst/>
            <a:rect l="l" t="t" r="r" b="b"/>
            <a:pathLst>
              <a:path w="4803716" h="6384795">
                <a:moveTo>
                  <a:pt x="0" y="0"/>
                </a:moveTo>
                <a:lnTo>
                  <a:pt x="4803715" y="0"/>
                </a:lnTo>
                <a:lnTo>
                  <a:pt x="4803715" y="6384795"/>
                </a:lnTo>
                <a:lnTo>
                  <a:pt x="0" y="63847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1" name="TextBox 11"/>
          <p:cNvSpPr txBox="1"/>
          <p:nvPr/>
        </p:nvSpPr>
        <p:spPr>
          <a:xfrm>
            <a:off x="91440" y="1040606"/>
            <a:ext cx="11704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Scratch, dent, crack inspection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76809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DEVELOPING ON KRIA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4470" y="1901647"/>
            <a:ext cx="5070348" cy="4362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Camera</a:t>
            </a:r>
          </a:p>
          <a:p>
            <a:pPr algn="ctr">
              <a:lnSpc>
                <a:spcPts val="3240"/>
              </a:lnSpc>
            </a:pPr>
            <a:endParaRPr lang="en-US" sz="5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OMRON SENTECH STC-MBS202POE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Protocol: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GigE Vision 2.1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Pixel Format: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Mono8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Interface: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Gigabit Ethernet (PoE)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376230" y="6851447"/>
            <a:ext cx="3266827" cy="3188970"/>
            <a:chOff x="0" y="0"/>
            <a:chExt cx="4355770" cy="4251960"/>
          </a:xfrm>
        </p:grpSpPr>
        <p:sp>
          <p:nvSpPr>
            <p:cNvPr id="10" name="Freeform 10" descr="GigE : Omron Sentech STC-MBS202POE GigE Vision Area Scan ..."/>
            <p:cNvSpPr/>
            <p:nvPr/>
          </p:nvSpPr>
          <p:spPr>
            <a:xfrm>
              <a:off x="0" y="0"/>
              <a:ext cx="4355719" cy="4251960"/>
            </a:xfrm>
            <a:custGeom>
              <a:avLst/>
              <a:gdLst/>
              <a:ahLst/>
              <a:cxnLst/>
              <a:rect l="l" t="t" r="r" b="b"/>
              <a:pathLst>
                <a:path w="4355719" h="4251960">
                  <a:moveTo>
                    <a:pt x="0" y="0"/>
                  </a:moveTo>
                  <a:lnTo>
                    <a:pt x="4355719" y="0"/>
                  </a:lnTo>
                  <a:lnTo>
                    <a:pt x="4355719" y="4251960"/>
                  </a:lnTo>
                  <a:lnTo>
                    <a:pt x="0" y="4251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20" r="-1" b="-1220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06990" y="1901647"/>
            <a:ext cx="6606540" cy="514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Processing Unit</a:t>
            </a:r>
          </a:p>
          <a:p>
            <a:pPr algn="l">
              <a:lnSpc>
                <a:spcPts val="3240"/>
              </a:lnSpc>
            </a:pPr>
            <a:endParaRPr lang="en-US" sz="5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SoM: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Kria K26</a:t>
            </a:r>
          </a:p>
          <a:p>
            <a:pPr marL="1174432" lvl="2" indent="-391478" algn="l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Zynq UltraScale+ MPSoC</a:t>
            </a:r>
          </a:p>
          <a:p>
            <a:pPr marL="1860233" lvl="3" indent="-465058" algn="l">
              <a:lnSpc>
                <a:spcPts val="3240"/>
              </a:lnSpc>
              <a:buFont typeface="Arial"/>
              <a:buChar char="￭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4× ARM Cortex-A53</a:t>
            </a:r>
          </a:p>
          <a:p>
            <a:pPr marL="1860233" lvl="3" indent="-465058" algn="l">
              <a:lnSpc>
                <a:spcPts val="3240"/>
              </a:lnSpc>
              <a:buFont typeface="Arial"/>
              <a:buChar char="￭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FPGA fabric (PL)</a:t>
            </a:r>
          </a:p>
          <a:p>
            <a:pPr marL="1860233" lvl="3" indent="-465058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Carrier Board: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KR260</a:t>
            </a:r>
          </a:p>
          <a:p>
            <a:pPr marL="1174432" lvl="2" indent="-391478" algn="l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Gigabit Ethernet, USB 3.0, DisplayPort</a:t>
            </a:r>
          </a:p>
          <a:p>
            <a:pPr marL="1174432" lvl="2" indent="-391478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OS/Environment: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Ubuntu, PetaLinux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802046" y="6851447"/>
            <a:ext cx="3416427" cy="3238014"/>
            <a:chOff x="0" y="0"/>
            <a:chExt cx="4555236" cy="43173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55236" cy="4317324"/>
            </a:xfrm>
            <a:custGeom>
              <a:avLst/>
              <a:gdLst/>
              <a:ahLst/>
              <a:cxnLst/>
              <a:rect l="l" t="t" r="r" b="b"/>
              <a:pathLst>
                <a:path w="4555236" h="4317324">
                  <a:moveTo>
                    <a:pt x="0" y="0"/>
                  </a:moveTo>
                  <a:lnTo>
                    <a:pt x="4555236" y="0"/>
                  </a:lnTo>
                  <a:lnTo>
                    <a:pt x="4555236" y="4317324"/>
                  </a:lnTo>
                  <a:lnTo>
                    <a:pt x="0" y="4317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55" b="-2755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System Hardware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79095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DEVELOPING ON KRIA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573446" y="1891798"/>
            <a:ext cx="6400800" cy="6104001"/>
            <a:chOff x="0" y="0"/>
            <a:chExt cx="8534400" cy="81386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34400" cy="8138668"/>
            </a:xfrm>
            <a:custGeom>
              <a:avLst/>
              <a:gdLst/>
              <a:ahLst/>
              <a:cxnLst/>
              <a:rect l="l" t="t" r="r" b="b"/>
              <a:pathLst>
                <a:path w="8534400" h="8138668">
                  <a:moveTo>
                    <a:pt x="0" y="0"/>
                  </a:moveTo>
                  <a:lnTo>
                    <a:pt x="8534400" y="0"/>
                  </a:lnTo>
                  <a:lnTo>
                    <a:pt x="8534400" y="8138668"/>
                  </a:lnTo>
                  <a:lnTo>
                    <a:pt x="0" y="8138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431" b="-243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2390" y="9823428"/>
            <a:ext cx="17016108" cy="41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www.amd.com/en/products/system-on-modules/kria/k26/kr260-robotics-starter-kit.html"/>
              </a:rPr>
              <a:t>https://www.amd.com/en/products/system-on-modules/kria/k26/kr260-robotics-starter-kit.html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19813" y="8022469"/>
            <a:ext cx="5108067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Kria KR260 Robotics Starter Kit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390" y="2425475"/>
            <a:ext cx="11390566" cy="427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just">
              <a:lnSpc>
                <a:spcPts val="486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AMD Kria K26 SOM designed for edge AI, robotics and industrial applications</a:t>
            </a:r>
          </a:p>
          <a:p>
            <a:pPr marL="488632" lvl="1" indent="-244316" algn="just">
              <a:lnSpc>
                <a:spcPts val="486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just">
              <a:lnSpc>
                <a:spcPts val="486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Contains both ARM processors (PS) and FPGA fabric (PL), ZynqMP SoC</a:t>
            </a:r>
          </a:p>
          <a:p>
            <a:pPr marL="488632" lvl="1" indent="-244316" algn="just">
              <a:lnSpc>
                <a:spcPts val="486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just">
              <a:lnSpc>
                <a:spcPts val="486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Runs standard Ubuntu, no custom OS needed</a:t>
            </a:r>
          </a:p>
          <a:p>
            <a:pPr marL="488632" lvl="1" indent="-244316" algn="just">
              <a:lnSpc>
                <a:spcPts val="486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just">
              <a:lnSpc>
                <a:spcPts val="486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Low-power consumption, suitable for industrial environments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What is the Kria SOM?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626364" y="2102815"/>
            <a:ext cx="9692640" cy="292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Legacy MPSoC Flow (static boot image flow)</a:t>
            </a:r>
          </a:p>
          <a:p>
            <a:pPr algn="l">
              <a:lnSpc>
                <a:spcPts val="3240"/>
              </a:lnSpc>
            </a:pPr>
            <a:endParaRPr lang="en-US" sz="27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Bitstream baked into BOOT.bin and loaded at boot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One OS per app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Reboot to switch app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6364" y="5885431"/>
            <a:ext cx="9082278" cy="292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Kria SOM Flow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(KV260, KR260)</a:t>
            </a:r>
          </a:p>
          <a:p>
            <a:pPr algn="l">
              <a:lnSpc>
                <a:spcPts val="3240"/>
              </a:lnSpc>
            </a:pPr>
            <a:endParaRPr lang="en-US" sz="2700" i="1">
              <a:solidFill>
                <a:srgbClr val="000000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Bitstream not in boot image and loaded at runtime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Single OS, multiple apps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reboot to switch app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483142" y="2114245"/>
            <a:ext cx="8804858" cy="8172755"/>
            <a:chOff x="0" y="0"/>
            <a:chExt cx="11739810" cy="1089700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1739810" cy="10897006"/>
              <a:chOff x="0" y="0"/>
              <a:chExt cx="11289500" cy="1047902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1289538" cy="10479024"/>
              </a:xfrm>
              <a:custGeom>
                <a:avLst/>
                <a:gdLst/>
                <a:ahLst/>
                <a:cxnLst/>
                <a:rect l="l" t="t" r="r" b="b"/>
                <a:pathLst>
                  <a:path w="11289538" h="10479024">
                    <a:moveTo>
                      <a:pt x="0" y="0"/>
                    </a:moveTo>
                    <a:lnTo>
                      <a:pt x="11289538" y="0"/>
                    </a:lnTo>
                    <a:lnTo>
                      <a:pt x="11289538" y="10479024"/>
                    </a:lnTo>
                    <a:lnTo>
                      <a:pt x="0" y="1047902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96" b="-96"/>
                </a:stretch>
              </a:blipFill>
            </p:spPr>
            <p:txBody>
              <a:bodyPr/>
              <a:lstStyle/>
              <a:p>
                <a:endParaRPr lang="tr-TR"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91440" y="83820"/>
            <a:ext cx="76047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DEVELOPING ON KRIA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Bitstream Management: Legacy vs Kria SOM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" y="9422006"/>
            <a:ext cx="9281160" cy="74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https://xilinx.github.io/kria-apps-docs/creating_applications/2022.1/build/html/docs/bitstream_management.html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77571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DEVELOPING ON KRIA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Producing the PL: Vivado Flow vs Vitis Flow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3396" y="2418569"/>
            <a:ext cx="8292122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Vivado flow</a:t>
            </a:r>
          </a:p>
          <a:p>
            <a:pPr algn="l">
              <a:lnSpc>
                <a:spcPts val="3599"/>
              </a:lnSpc>
            </a:pPr>
            <a:endParaRPr lang="en-US" sz="2999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42922" lvl="1" indent="-271461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Hand-built block design in IP Integrator</a:t>
            </a:r>
          </a:p>
          <a:p>
            <a:pPr algn="l">
              <a:lnSpc>
                <a:spcPts val="3599"/>
              </a:lnSpc>
            </a:pPr>
            <a:endParaRPr lang="en-US" sz="29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2" lvl="1" indent="-271461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You wire every IP (DPU, scaler, VDMA) manually</a:t>
            </a:r>
          </a:p>
          <a:p>
            <a:pPr algn="l">
              <a:lnSpc>
                <a:spcPts val="3599"/>
              </a:lnSpc>
            </a:pPr>
            <a:endParaRPr lang="en-US" sz="29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2" lvl="1" indent="-271461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Maximum control, most manual effort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66440" y="2418569"/>
            <a:ext cx="8292122" cy="587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Vitis flow   (our choice)</a:t>
            </a:r>
          </a:p>
          <a:p>
            <a:pPr algn="l">
              <a:lnSpc>
                <a:spcPts val="3599"/>
              </a:lnSpc>
            </a:pPr>
            <a:endParaRPr lang="en-US" sz="2999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42922" lvl="1" indent="-271461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Start from a base platform (AMD-provided or custom) + accelerator kernels</a:t>
            </a:r>
          </a:p>
          <a:p>
            <a:pPr algn="l">
              <a:lnSpc>
                <a:spcPts val="3599"/>
              </a:lnSpc>
            </a:pPr>
            <a:endParaRPr lang="en-US" sz="29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2" lvl="1" indent="-271461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tool links the platform + accelerator kernels (e.g. DPU, multiscaler) automatically, no manual wiring</a:t>
            </a:r>
          </a:p>
          <a:p>
            <a:pPr algn="l">
              <a:lnSpc>
                <a:spcPts val="3599"/>
              </a:lnSpc>
            </a:pPr>
            <a:endParaRPr lang="en-US" sz="29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2" lvl="1" indent="-271461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Skips re-synthesizing the platform each iteration, only the kernel is synthesized</a:t>
            </a:r>
          </a:p>
          <a:p>
            <a:pPr algn="l">
              <a:lnSpc>
                <a:spcPts val="3599"/>
              </a:lnSpc>
            </a:pPr>
            <a:endParaRPr lang="en-US" sz="29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599"/>
              </a:lnSpc>
            </a:pPr>
            <a:endParaRPr lang="en-US" sz="29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03396" y="8753475"/>
            <a:ext cx="17217123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2" lvl="1" indent="-271461" algn="l">
              <a:lnSpc>
                <a:spcPts val="35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Bottom line: </a:t>
            </a: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 use the Vitis acceleration flow, less manual wiring and  reusing the platform saves synthesis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9166860" y="2225824"/>
            <a:ext cx="9121140" cy="7032476"/>
          </a:xfrm>
          <a:custGeom>
            <a:avLst/>
            <a:gdLst/>
            <a:ahLst/>
            <a:cxnLst/>
            <a:rect l="l" t="t" r="r" b="b"/>
            <a:pathLst>
              <a:path w="9121140" h="7032476">
                <a:moveTo>
                  <a:pt x="0" y="0"/>
                </a:moveTo>
                <a:lnTo>
                  <a:pt x="9121140" y="0"/>
                </a:lnTo>
                <a:lnTo>
                  <a:pt x="9121140" y="7032476"/>
                </a:lnTo>
                <a:lnTo>
                  <a:pt x="0" y="7032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TextBox 8"/>
          <p:cNvSpPr txBox="1"/>
          <p:nvPr/>
        </p:nvSpPr>
        <p:spPr>
          <a:xfrm>
            <a:off x="91440" y="83820"/>
            <a:ext cx="76047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DEVELOPING ON KRIA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" y="1040606"/>
            <a:ext cx="11704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Vitis Acceleration Flow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" y="9605963"/>
            <a:ext cx="13547979" cy="330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 u="sng">
                <a:solidFill>
                  <a:srgbClr val="467886"/>
                </a:solidFill>
                <a:latin typeface="Aptos"/>
                <a:ea typeface="Aptos"/>
                <a:cs typeface="Aptos"/>
                <a:sym typeface="Aptos"/>
              </a:rPr>
              <a:t>https://xilinx.github.io/kria-apps-docs/creating_applications/2022.1/build/html/docs/overview.html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2039" y="2019452"/>
            <a:ext cx="8854821" cy="620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endParaRPr/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Platform + Accelerators → v++ --link → 3 output files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Platform (.xpfm):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KR260 base hardware design, two options: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1174432" lvl="2" indent="-391478" algn="l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AMD provided platform (e.g. kv260_ispMipiRx_vcu_DP, kr260_pmod_gps)</a:t>
            </a:r>
          </a:p>
          <a:p>
            <a:pPr marL="1174432" lvl="2" indent="-391478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1174432" lvl="2" indent="-391478" algn="l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custom platform with Vivado</a:t>
            </a:r>
          </a:p>
          <a:p>
            <a:pPr marL="1174432" lvl="2" indent="-391478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Accelerators (.xo):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PL kernels written in HLS or RTL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v++ --link: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combines platform + accelerators → generates .bit.bin + .xclbin + .dtbo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82143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DEVELOPING ON KRIA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Runtime Software Stack: XRT &amp; ZOCL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1883" y="2424112"/>
            <a:ext cx="12343257" cy="701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overlay is activated at runtime via the Linux FPGA manager (xmutil loadapp) without a reboot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1165860" lvl="2" indent="-388620" algn="l">
              <a:lnSpc>
                <a:spcPts val="3240"/>
              </a:lnSpc>
              <a:buFont typeface="Arial"/>
              <a:buChar char="⚬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.bit.bin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programs the PL fabric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1165860" lvl="2" indent="-388620" algn="l">
              <a:lnSpc>
                <a:spcPts val="3240"/>
              </a:lnSpc>
              <a:buFont typeface="Arial"/>
              <a:buChar char="⚬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.dtbo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tells Linux what hardware appeared in PL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Run: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once active, the application drives the accelerators through XRT + ZOCL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1165860" lvl="2" indent="-388620" algn="l">
              <a:lnSpc>
                <a:spcPts val="3240"/>
              </a:lnSpc>
              <a:buFont typeface="Arial"/>
              <a:buChar char="⚬"/>
            </a:pPr>
            <a:r>
              <a:rPr lang="en-US" sz="2700" b="1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XRT (Xilinx Runtime):</a:t>
            </a:r>
            <a:r>
              <a:rPr lang="en-US" sz="27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 Software library running on PS (ARM) side that manages  buffer allocation, DMA, kernel control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1A1A1A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1165860" lvl="2" indent="-388620" algn="l">
              <a:lnSpc>
                <a:spcPts val="3240"/>
              </a:lnSpc>
              <a:buFont typeface="Arial"/>
              <a:buChar char="⚬"/>
            </a:pPr>
            <a:r>
              <a:rPr lang="en-US" sz="2700" b="1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ZOCL (Zynq OpenCL driver):</a:t>
            </a:r>
            <a:r>
              <a:rPr lang="en-US" sz="27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 Linux kernel driver that physically maps/drives the PL registers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1A1A1A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1174432" lvl="2" indent="-391478" algn="l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.xclbin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read by XRT for register maps + kernel metadata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4593136" y="2793449"/>
            <a:ext cx="2913566" cy="7075804"/>
            <a:chOff x="0" y="0"/>
            <a:chExt cx="4400550" cy="10687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00550" cy="10687050"/>
            </a:xfrm>
            <a:custGeom>
              <a:avLst/>
              <a:gdLst/>
              <a:ahLst/>
              <a:cxnLst/>
              <a:rect l="l" t="t" r="r" b="b"/>
              <a:pathLst>
                <a:path w="4400550" h="10687050">
                  <a:moveTo>
                    <a:pt x="0" y="0"/>
                  </a:moveTo>
                  <a:lnTo>
                    <a:pt x="4400550" y="0"/>
                  </a:lnTo>
                  <a:lnTo>
                    <a:pt x="4400550" y="10687050"/>
                  </a:lnTo>
                  <a:lnTo>
                    <a:pt x="0" y="10687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296105" y="2139887"/>
            <a:ext cx="1507629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Phase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6943130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OUR IMPLEMENTATION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Custom FPGA overlay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21434" y="1999019"/>
            <a:ext cx="9082278" cy="783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Custom FPGA overlay for Kria KR260 targeting real-time industrial defect detection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Camera: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OMRON SENTECH STC-MBS202POE — GigE Vision/ Mono8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Platform: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Minimal custom Vitis platform (clock/interrupt/AXI only, no extra fixed IP), built in Vivado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Accelerators: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DPU B4096 (Inference) + v_multi_scaler (HW preprocessing)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Software stack: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Ubuntu 22.04 / XRT 2.15 / Vitis AI 2.5 / VVAS 2.0 / GStreamer / Aravis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 flow: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Vitis Acceleration Flow → v++ --link → .bit.bin + .xclbin + .dtbo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Binary defect classification — OK / Defective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8026" y="9790469"/>
            <a:ext cx="9082278" cy="41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xilinx.github.io/kria-apps-docs/kv260/2022.1/build/html/docs/smartcamera/docs/sw_arch_platform.html"/>
              </a:rPr>
              <a:t>Software Architecture of the Platform — Kria™ KV260 2022.1 documentation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060844" y="2964875"/>
            <a:ext cx="9292534" cy="6293425"/>
            <a:chOff x="0" y="0"/>
            <a:chExt cx="10612680" cy="7187502"/>
          </a:xfrm>
        </p:grpSpPr>
        <p:sp>
          <p:nvSpPr>
            <p:cNvPr id="12" name="Freeform 12" descr="Linux Software Stack and Vertical Domains"/>
            <p:cNvSpPr/>
            <p:nvPr/>
          </p:nvSpPr>
          <p:spPr>
            <a:xfrm>
              <a:off x="0" y="0"/>
              <a:ext cx="10612680" cy="7187565"/>
            </a:xfrm>
            <a:custGeom>
              <a:avLst/>
              <a:gdLst/>
              <a:ahLst/>
              <a:cxnLst/>
              <a:rect l="l" t="t" r="r" b="b"/>
              <a:pathLst>
                <a:path w="10612680" h="7187565">
                  <a:moveTo>
                    <a:pt x="0" y="0"/>
                  </a:moveTo>
                  <a:lnTo>
                    <a:pt x="10612680" y="0"/>
                  </a:lnTo>
                  <a:lnTo>
                    <a:pt x="10612680" y="7187565"/>
                  </a:lnTo>
                  <a:lnTo>
                    <a:pt x="0" y="7187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48" r="-5948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3522464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What is the DPU?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4612" y="2768051"/>
            <a:ext cx="8183880" cy="418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Deep Learning Processing Unit: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Xilinx's hardware IP for running neural network inference on the FPGA</a:t>
            </a: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Runs our custom-trained defect detection model directly in PL, no CPU involved</a:t>
            </a: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Comes in different sizes (architectures), B512 up to B4096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65359" y="2171786"/>
            <a:ext cx="7656871" cy="6938877"/>
            <a:chOff x="0" y="0"/>
            <a:chExt cx="10209162" cy="92518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09149" cy="9251823"/>
            </a:xfrm>
            <a:custGeom>
              <a:avLst/>
              <a:gdLst/>
              <a:ahLst/>
              <a:cxnLst/>
              <a:rect l="l" t="t" r="r" b="b"/>
              <a:pathLst>
                <a:path w="10209149" h="9251823">
                  <a:moveTo>
                    <a:pt x="0" y="0"/>
                  </a:moveTo>
                  <a:lnTo>
                    <a:pt x="10209149" y="0"/>
                  </a:lnTo>
                  <a:lnTo>
                    <a:pt x="10209149" y="9251823"/>
                  </a:lnTo>
                  <a:lnTo>
                    <a:pt x="0" y="925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24612" y="9596618"/>
            <a:ext cx="9082278" cy="41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https://docs.amd.com/r/en-US/pg338-dpu/Core-Overview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3522464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What do B4096 and B3136 mean?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3396" y="2347617"/>
            <a:ext cx="10167118" cy="582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“B” number = peak operations per clock 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— what the convolution engine can do each cycle (1 MAC = 2 ops)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34340" lvl="1" indent="-21717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B4096 = 4096 ops/clock; 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B3136 = 3136; B512 = 512. Bigger = more parallel MAC units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34340" lvl="1" indent="-21717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Set by three parallelism factors: 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pixel (PP) × in-channel (ICP) × out-channel (OCP), × 2</a:t>
            </a:r>
          </a:p>
          <a:p>
            <a:pPr marL="434340" lvl="1" indent="-217170"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–  B4096 = 8 × 16 × 16 × 2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–  B3136 = 8 × 14 × 14 × 2</a:t>
            </a:r>
          </a:p>
          <a:p>
            <a:pPr marL="434340" lvl="1" indent="-217170"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34340" lvl="1" indent="-21717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More parallelism → higher throughput (more FPS) 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but more LUT / FF / BRAM / DSP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34340" lvl="1" indent="-21717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bigger DPU is faster but costs more PL resources 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— the budget problem on the next slides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41437" y="2212619"/>
            <a:ext cx="5817118" cy="366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Peak operations per clock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41437" y="2848099"/>
            <a:ext cx="1242117" cy="73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B512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450004" y="2939996"/>
            <a:ext cx="506254" cy="599999"/>
            <a:chOff x="0" y="0"/>
            <a:chExt cx="675005" cy="7999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75005" cy="799973"/>
            </a:xfrm>
            <a:custGeom>
              <a:avLst/>
              <a:gdLst/>
              <a:ahLst/>
              <a:cxnLst/>
              <a:rect l="l" t="t" r="r" b="b"/>
              <a:pathLst>
                <a:path w="675005" h="799973">
                  <a:moveTo>
                    <a:pt x="0" y="0"/>
                  </a:moveTo>
                  <a:lnTo>
                    <a:pt x="675005" y="0"/>
                  </a:lnTo>
                  <a:lnTo>
                    <a:pt x="675005" y="799973"/>
                  </a:lnTo>
                  <a:lnTo>
                    <a:pt x="0" y="799973"/>
                  </a:lnTo>
                  <a:close/>
                </a:path>
              </a:pathLst>
            </a:custGeom>
            <a:solidFill>
              <a:srgbClr val="7BD3A6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137690" y="2857624"/>
            <a:ext cx="1392117" cy="72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512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41437" y="4168092"/>
            <a:ext cx="1242117" cy="73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B1024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450004" y="4259999"/>
            <a:ext cx="1012498" cy="599999"/>
            <a:chOff x="0" y="0"/>
            <a:chExt cx="1349997" cy="7999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50010" cy="799973"/>
            </a:xfrm>
            <a:custGeom>
              <a:avLst/>
              <a:gdLst/>
              <a:ahLst/>
              <a:cxnLst/>
              <a:rect l="l" t="t" r="r" b="b"/>
              <a:pathLst>
                <a:path w="1350010" h="799973">
                  <a:moveTo>
                    <a:pt x="0" y="0"/>
                  </a:moveTo>
                  <a:lnTo>
                    <a:pt x="1350010" y="0"/>
                  </a:lnTo>
                  <a:lnTo>
                    <a:pt x="1350010" y="799973"/>
                  </a:lnTo>
                  <a:lnTo>
                    <a:pt x="0" y="799973"/>
                  </a:lnTo>
                  <a:close/>
                </a:path>
              </a:pathLst>
            </a:custGeom>
            <a:solidFill>
              <a:srgbClr val="7BD3A6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643943" y="4177617"/>
            <a:ext cx="1392117" cy="72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1024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41437" y="5488095"/>
            <a:ext cx="1242117" cy="73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B2304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450004" y="5580002"/>
            <a:ext cx="2278123" cy="599999"/>
            <a:chOff x="0" y="0"/>
            <a:chExt cx="3037497" cy="7999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37459" cy="799973"/>
            </a:xfrm>
            <a:custGeom>
              <a:avLst/>
              <a:gdLst/>
              <a:ahLst/>
              <a:cxnLst/>
              <a:rect l="l" t="t" r="r" b="b"/>
              <a:pathLst>
                <a:path w="3037459" h="799973">
                  <a:moveTo>
                    <a:pt x="0" y="0"/>
                  </a:moveTo>
                  <a:lnTo>
                    <a:pt x="3037459" y="0"/>
                  </a:lnTo>
                  <a:lnTo>
                    <a:pt x="3037459" y="799973"/>
                  </a:lnTo>
                  <a:lnTo>
                    <a:pt x="0" y="799973"/>
                  </a:lnTo>
                  <a:close/>
                </a:path>
              </a:pathLst>
            </a:custGeom>
            <a:solidFill>
              <a:srgbClr val="7BD3A6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909568" y="5497620"/>
            <a:ext cx="1392117" cy="72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2304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41437" y="6808099"/>
            <a:ext cx="1242117" cy="73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B3136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450004" y="6899996"/>
            <a:ext cx="3100778" cy="599999"/>
            <a:chOff x="0" y="0"/>
            <a:chExt cx="4134371" cy="79999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134358" cy="799973"/>
            </a:xfrm>
            <a:custGeom>
              <a:avLst/>
              <a:gdLst/>
              <a:ahLst/>
              <a:cxnLst/>
              <a:rect l="l" t="t" r="r" b="b"/>
              <a:pathLst>
                <a:path w="4134358" h="799973">
                  <a:moveTo>
                    <a:pt x="0" y="0"/>
                  </a:moveTo>
                  <a:lnTo>
                    <a:pt x="4134358" y="0"/>
                  </a:lnTo>
                  <a:lnTo>
                    <a:pt x="4134358" y="799973"/>
                  </a:lnTo>
                  <a:lnTo>
                    <a:pt x="0" y="799973"/>
                  </a:lnTo>
                  <a:close/>
                </a:path>
              </a:pathLst>
            </a:custGeom>
            <a:solidFill>
              <a:srgbClr val="7BD3A6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5732223" y="6817624"/>
            <a:ext cx="1392117" cy="72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3136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41437" y="8128092"/>
            <a:ext cx="1242117" cy="73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B4096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2450004" y="8219999"/>
            <a:ext cx="4050001" cy="599999"/>
            <a:chOff x="0" y="0"/>
            <a:chExt cx="5400002" cy="79999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00040" cy="799973"/>
            </a:xfrm>
            <a:custGeom>
              <a:avLst/>
              <a:gdLst/>
              <a:ahLst/>
              <a:cxnLst/>
              <a:rect l="l" t="t" r="r" b="b"/>
              <a:pathLst>
                <a:path w="5400040" h="799973">
                  <a:moveTo>
                    <a:pt x="0" y="0"/>
                  </a:moveTo>
                  <a:lnTo>
                    <a:pt x="5400040" y="0"/>
                  </a:lnTo>
                  <a:lnTo>
                    <a:pt x="5400040" y="799973"/>
                  </a:lnTo>
                  <a:lnTo>
                    <a:pt x="0" y="799973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6681437" y="8137617"/>
            <a:ext cx="1392117" cy="72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55555"/>
                </a:solidFill>
                <a:latin typeface="Calibri (MS)"/>
                <a:ea typeface="Calibri (MS)"/>
                <a:cs typeface="Calibri (MS)"/>
                <a:sym typeface="Calibri (MS)"/>
              </a:rPr>
              <a:t>4096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3522464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Resource budget vs K26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" y="9836668"/>
            <a:ext cx="7179993" cy="41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u="sng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docs.amd.com/r/en-US/pg338-dpu/Resource-Utilization"/>
              </a:rPr>
              <a:t>https://docs.amd.com/r/en-US/pg338-dpu/Resource-Utilization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6845" y="2123846"/>
            <a:ext cx="15161324" cy="575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 want a powerful DPU like B3136 or B4096  but BRAM isn't enough. What can we do?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5404" y="3831663"/>
          <a:ext cx="10191750" cy="5905503"/>
        </p:xfrm>
        <a:graphic>
          <a:graphicData uri="http://schemas.openxmlformats.org/drawingml/2006/table">
            <a:tbl>
              <a:tblPr/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59359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DPUCZDX8G Architecture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LUT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Register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Block RAM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DSP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268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B512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26922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34543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72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118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268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B800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29721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41147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268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B1024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34074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48057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104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230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268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B1152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32169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47374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121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222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268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B1600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38418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58831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268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B2304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42127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68829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165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438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268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B3136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46714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79710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208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566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3268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B4096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52161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98249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255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710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206845" y="3327159"/>
            <a:ext cx="6370453" cy="41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Table 1: Resources of Different DPUCZDX8G Architectures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0809722" y="3831660"/>
          <a:ext cx="7315200" cy="5777521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249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Resource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K26 SOM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Description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6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System logic cells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256,200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Programmable logic cells for available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06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CLB flip-flops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234,240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Configurable logic block (CLB): Total number of flip-flops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6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CLB LUTs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117,120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Configurable logic block: Total number of look-up tables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68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Distributed RAM (Mb)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3.5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Distributed memory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68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Block RAM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144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 of 36 Kb block RAMs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11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Block RAM (Mb)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5.1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 block RAM memory footprint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6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UltraRAM blocks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64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288 Kb dual-port, 72-bit-wide memory with error correction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6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DSP slices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1,248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27 x 18 signed multiplier with 48-bit adder/accumulator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68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CMTs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Clock management tiles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6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Video Codec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H.264 and H.265 supported simultaneous encode/decode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6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HDIO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69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High-density I/O supports 1.2V to 3.3V rails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7409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HPIO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116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High-performance I/O differential pairs supports 1.0V to 1.8V rails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11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GTH transceivers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Up to 12.5 Gb/s serial transceivers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7409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Transceiver fractional PLLs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Specialized PLL used in high-speed serial communication transceivers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63005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PCI Express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Controller for integrated PCIe that is in addition to the integrated controller for PCIe in the PS</a:t>
                      </a:r>
                      <a:endParaRPr lang="en-US" sz="1100"/>
                    </a:p>
                  </a:txBody>
                  <a:tcPr marL="17486" marR="17486" marT="17486" marB="17486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4" name="TextBox 14"/>
          <p:cNvSpPr txBox="1"/>
          <p:nvPr/>
        </p:nvSpPr>
        <p:spPr>
          <a:xfrm>
            <a:off x="10745343" y="9836668"/>
            <a:ext cx="7556373" cy="41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https://docs.amd.com/r/en-US/ds987-k26-som/Programmable-Logic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01162" y="3327159"/>
            <a:ext cx="9137142" cy="41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Table 2: PL Resources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3522464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The answer: URAM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0947" y="3360391"/>
            <a:ext cx="5808393" cy="467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 can use URAM so that we can use a powerful DPU architecture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Kria SOM has 64 URAM blocks available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Configuring DPU to use URAM frees up BRAM for the scaler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240780" y="3371826"/>
          <a:ext cx="11982450" cy="5791199"/>
        </p:xfrm>
        <a:graphic>
          <a:graphicData uri="http://schemas.openxmlformats.org/drawingml/2006/table">
            <a:tbl>
              <a:tblPr/>
              <a:tblGrid>
                <a:gridCol w="2099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7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7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7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59183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DPUCZDX8G Architecture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LUT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Register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Block RAM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UltraRAM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DSP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69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5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B512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26767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34538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118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5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B800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29578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41153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5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B1024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33752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48093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230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5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B1152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31901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47797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44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222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5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B1600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38197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58859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5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B2304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41736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69604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438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15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B3136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46260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80079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64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566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15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B4096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51843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98567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68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710</a:t>
                      </a:r>
                      <a:endParaRPr lang="en-US" sz="1100"/>
                    </a:p>
                  </a:txBody>
                  <a:tcPr marL="42333" marR="42333" marT="42333" marB="42333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6332220" y="2908259"/>
            <a:ext cx="5592451" cy="41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Table 3: Resources of DPUCZDX8G using UltraRAM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5521226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PRE-PROCESSING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Getting frames into the format the model expects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3396" y="2289048"/>
            <a:ext cx="17217123" cy="509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544" lvl="1" indent="-27127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trained CNN expects a fixed input tensor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— our ResNet-18 needs a set size, layout and value range, not the raw camera frame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544" lvl="1" indent="-27127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Color space conversion: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camera gives Mono8 (grayscale); the model needs a defined format and channel order (e.g. 3-channel BGR)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544" lvl="1" indent="-27127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Scaling (resize):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full frame (e.g. 1920×1080) is resized to the model input (e.g. 224×224)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544" lvl="1" indent="-27127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Normalization / quantization: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pixel values are scaled to the INT8 range the DPU runs on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 the CPU this is a bottleneck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we offload it to the v_multi_scaler in PL (next slide)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37215" y="7999724"/>
            <a:ext cx="2953579" cy="1258576"/>
            <a:chOff x="0" y="0"/>
            <a:chExt cx="3938105" cy="16781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38016" cy="1678051"/>
            </a:xfrm>
            <a:custGeom>
              <a:avLst/>
              <a:gdLst/>
              <a:ahLst/>
              <a:cxnLst/>
              <a:rect l="l" t="t" r="r" b="b"/>
              <a:pathLst>
                <a:path w="3938016" h="1678051">
                  <a:moveTo>
                    <a:pt x="0" y="279654"/>
                  </a:moveTo>
                  <a:cubicBezTo>
                    <a:pt x="0" y="125222"/>
                    <a:pt x="125222" y="0"/>
                    <a:pt x="279654" y="0"/>
                  </a:cubicBezTo>
                  <a:lnTo>
                    <a:pt x="3658362" y="0"/>
                  </a:lnTo>
                  <a:cubicBezTo>
                    <a:pt x="3812794" y="0"/>
                    <a:pt x="3938016" y="125222"/>
                    <a:pt x="3938016" y="279654"/>
                  </a:cubicBezTo>
                  <a:lnTo>
                    <a:pt x="3938016" y="1398397"/>
                  </a:lnTo>
                  <a:cubicBezTo>
                    <a:pt x="3938016" y="1552829"/>
                    <a:pt x="3812794" y="1678051"/>
                    <a:pt x="3658362" y="1678051"/>
                  </a:cubicBezTo>
                  <a:lnTo>
                    <a:pt x="279654" y="1678051"/>
                  </a:lnTo>
                  <a:cubicBezTo>
                    <a:pt x="125222" y="1678051"/>
                    <a:pt x="0" y="1552829"/>
                    <a:pt x="0" y="1398397"/>
                  </a:cubicBezTo>
                  <a:close/>
                </a:path>
              </a:pathLst>
            </a:custGeom>
            <a:solidFill>
              <a:srgbClr val="EAF6EF"/>
            </a:solidFill>
            <a:ln w="28575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938105" cy="1716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frame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0B6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1920×1080 Mono8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023303" y="8494004"/>
            <a:ext cx="296399" cy="269996"/>
            <a:chOff x="0" y="0"/>
            <a:chExt cx="395199" cy="3599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5224" cy="360045"/>
            </a:xfrm>
            <a:custGeom>
              <a:avLst/>
              <a:gdLst/>
              <a:ahLst/>
              <a:cxnLst/>
              <a:rect l="l" t="t" r="r" b="b"/>
              <a:pathLst>
                <a:path w="395224" h="360045">
                  <a:moveTo>
                    <a:pt x="0" y="90043"/>
                  </a:moveTo>
                  <a:lnTo>
                    <a:pt x="215138" y="90043"/>
                  </a:lnTo>
                  <a:lnTo>
                    <a:pt x="215138" y="0"/>
                  </a:lnTo>
                  <a:lnTo>
                    <a:pt x="395224" y="179959"/>
                  </a:lnTo>
                  <a:lnTo>
                    <a:pt x="215138" y="360045"/>
                  </a:lnTo>
                  <a:lnTo>
                    <a:pt x="215138" y="270002"/>
                  </a:lnTo>
                  <a:lnTo>
                    <a:pt x="0" y="270002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52211" y="7999724"/>
            <a:ext cx="2953579" cy="1258576"/>
            <a:chOff x="0" y="0"/>
            <a:chExt cx="3938105" cy="16781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38016" cy="1678051"/>
            </a:xfrm>
            <a:custGeom>
              <a:avLst/>
              <a:gdLst/>
              <a:ahLst/>
              <a:cxnLst/>
              <a:rect l="l" t="t" r="r" b="b"/>
              <a:pathLst>
                <a:path w="3938016" h="1678051">
                  <a:moveTo>
                    <a:pt x="0" y="279654"/>
                  </a:moveTo>
                  <a:cubicBezTo>
                    <a:pt x="0" y="125222"/>
                    <a:pt x="125222" y="0"/>
                    <a:pt x="279654" y="0"/>
                  </a:cubicBezTo>
                  <a:lnTo>
                    <a:pt x="3658362" y="0"/>
                  </a:lnTo>
                  <a:cubicBezTo>
                    <a:pt x="3812794" y="0"/>
                    <a:pt x="3938016" y="125222"/>
                    <a:pt x="3938016" y="279654"/>
                  </a:cubicBezTo>
                  <a:lnTo>
                    <a:pt x="3938016" y="1398397"/>
                  </a:lnTo>
                  <a:cubicBezTo>
                    <a:pt x="3938016" y="1552829"/>
                    <a:pt x="3812794" y="1678051"/>
                    <a:pt x="3658362" y="1678051"/>
                  </a:cubicBezTo>
                  <a:lnTo>
                    <a:pt x="279654" y="1678051"/>
                  </a:lnTo>
                  <a:cubicBezTo>
                    <a:pt x="125222" y="1678051"/>
                    <a:pt x="0" y="1552829"/>
                    <a:pt x="0" y="1398397"/>
                  </a:cubicBezTo>
                  <a:close/>
                </a:path>
              </a:pathLst>
            </a:custGeom>
            <a:solidFill>
              <a:srgbClr val="EAF6EF"/>
            </a:solidFill>
            <a:ln w="28575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938105" cy="1716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Color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0B6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338298" y="8494004"/>
            <a:ext cx="296399" cy="269996"/>
            <a:chOff x="0" y="0"/>
            <a:chExt cx="395199" cy="3599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5224" cy="360045"/>
            </a:xfrm>
            <a:custGeom>
              <a:avLst/>
              <a:gdLst/>
              <a:ahLst/>
              <a:cxnLst/>
              <a:rect l="l" t="t" r="r" b="b"/>
              <a:pathLst>
                <a:path w="395224" h="360045">
                  <a:moveTo>
                    <a:pt x="0" y="90043"/>
                  </a:moveTo>
                  <a:lnTo>
                    <a:pt x="215138" y="90043"/>
                  </a:lnTo>
                  <a:lnTo>
                    <a:pt x="215138" y="0"/>
                  </a:lnTo>
                  <a:lnTo>
                    <a:pt x="395224" y="179959"/>
                  </a:lnTo>
                  <a:lnTo>
                    <a:pt x="215138" y="360045"/>
                  </a:lnTo>
                  <a:lnTo>
                    <a:pt x="215138" y="270002"/>
                  </a:lnTo>
                  <a:lnTo>
                    <a:pt x="0" y="270002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67215" y="7999724"/>
            <a:ext cx="2953579" cy="1258576"/>
            <a:chOff x="0" y="0"/>
            <a:chExt cx="3938105" cy="167810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38016" cy="1678051"/>
            </a:xfrm>
            <a:custGeom>
              <a:avLst/>
              <a:gdLst/>
              <a:ahLst/>
              <a:cxnLst/>
              <a:rect l="l" t="t" r="r" b="b"/>
              <a:pathLst>
                <a:path w="3938016" h="1678051">
                  <a:moveTo>
                    <a:pt x="0" y="279654"/>
                  </a:moveTo>
                  <a:cubicBezTo>
                    <a:pt x="0" y="125222"/>
                    <a:pt x="125222" y="0"/>
                    <a:pt x="279654" y="0"/>
                  </a:cubicBezTo>
                  <a:lnTo>
                    <a:pt x="3658362" y="0"/>
                  </a:lnTo>
                  <a:cubicBezTo>
                    <a:pt x="3812794" y="0"/>
                    <a:pt x="3938016" y="125222"/>
                    <a:pt x="3938016" y="279654"/>
                  </a:cubicBezTo>
                  <a:lnTo>
                    <a:pt x="3938016" y="1398397"/>
                  </a:lnTo>
                  <a:cubicBezTo>
                    <a:pt x="3938016" y="1552829"/>
                    <a:pt x="3812794" y="1678051"/>
                    <a:pt x="3658362" y="1678051"/>
                  </a:cubicBezTo>
                  <a:lnTo>
                    <a:pt x="279654" y="1678051"/>
                  </a:lnTo>
                  <a:cubicBezTo>
                    <a:pt x="125222" y="1678051"/>
                    <a:pt x="0" y="1552829"/>
                    <a:pt x="0" y="1398397"/>
                  </a:cubicBezTo>
                  <a:close/>
                </a:path>
              </a:pathLst>
            </a:custGeom>
            <a:solidFill>
              <a:srgbClr val="EAF6EF"/>
            </a:solidFill>
            <a:ln w="28575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938105" cy="1716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Resize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0B6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224×224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653303" y="8494004"/>
            <a:ext cx="296399" cy="269996"/>
            <a:chOff x="0" y="0"/>
            <a:chExt cx="395199" cy="35999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5224" cy="360045"/>
            </a:xfrm>
            <a:custGeom>
              <a:avLst/>
              <a:gdLst/>
              <a:ahLst/>
              <a:cxnLst/>
              <a:rect l="l" t="t" r="r" b="b"/>
              <a:pathLst>
                <a:path w="395224" h="360045">
                  <a:moveTo>
                    <a:pt x="0" y="90043"/>
                  </a:moveTo>
                  <a:lnTo>
                    <a:pt x="215138" y="90043"/>
                  </a:lnTo>
                  <a:lnTo>
                    <a:pt x="215138" y="0"/>
                  </a:lnTo>
                  <a:lnTo>
                    <a:pt x="395224" y="179959"/>
                  </a:lnTo>
                  <a:lnTo>
                    <a:pt x="215138" y="360045"/>
                  </a:lnTo>
                  <a:lnTo>
                    <a:pt x="215138" y="270002"/>
                  </a:lnTo>
                  <a:lnTo>
                    <a:pt x="0" y="270002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982211" y="7999724"/>
            <a:ext cx="2953579" cy="1258576"/>
            <a:chOff x="0" y="0"/>
            <a:chExt cx="3938105" cy="167810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38016" cy="1678051"/>
            </a:xfrm>
            <a:custGeom>
              <a:avLst/>
              <a:gdLst/>
              <a:ahLst/>
              <a:cxnLst/>
              <a:rect l="l" t="t" r="r" b="b"/>
              <a:pathLst>
                <a:path w="3938016" h="1678051">
                  <a:moveTo>
                    <a:pt x="0" y="279654"/>
                  </a:moveTo>
                  <a:cubicBezTo>
                    <a:pt x="0" y="125222"/>
                    <a:pt x="125222" y="0"/>
                    <a:pt x="279654" y="0"/>
                  </a:cubicBezTo>
                  <a:lnTo>
                    <a:pt x="3658362" y="0"/>
                  </a:lnTo>
                  <a:cubicBezTo>
                    <a:pt x="3812794" y="0"/>
                    <a:pt x="3938016" y="125222"/>
                    <a:pt x="3938016" y="279654"/>
                  </a:cubicBezTo>
                  <a:lnTo>
                    <a:pt x="3938016" y="1398397"/>
                  </a:lnTo>
                  <a:cubicBezTo>
                    <a:pt x="3938016" y="1552829"/>
                    <a:pt x="3812794" y="1678051"/>
                    <a:pt x="3658362" y="1678051"/>
                  </a:cubicBezTo>
                  <a:lnTo>
                    <a:pt x="279654" y="1678051"/>
                  </a:lnTo>
                  <a:cubicBezTo>
                    <a:pt x="125222" y="1678051"/>
                    <a:pt x="0" y="1552829"/>
                    <a:pt x="0" y="1398397"/>
                  </a:cubicBezTo>
                  <a:close/>
                </a:path>
              </a:pathLst>
            </a:custGeom>
            <a:solidFill>
              <a:srgbClr val="EAF6EF"/>
            </a:solidFill>
            <a:ln w="28575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938105" cy="1716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Quantize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0B6B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968298" y="8494004"/>
            <a:ext cx="296399" cy="269996"/>
            <a:chOff x="0" y="0"/>
            <a:chExt cx="395199" cy="35999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5224" cy="360045"/>
            </a:xfrm>
            <a:custGeom>
              <a:avLst/>
              <a:gdLst/>
              <a:ahLst/>
              <a:cxnLst/>
              <a:rect l="l" t="t" r="r" b="b"/>
              <a:pathLst>
                <a:path w="395224" h="360045">
                  <a:moveTo>
                    <a:pt x="0" y="90043"/>
                  </a:moveTo>
                  <a:lnTo>
                    <a:pt x="215138" y="90043"/>
                  </a:lnTo>
                  <a:lnTo>
                    <a:pt x="215138" y="0"/>
                  </a:lnTo>
                  <a:lnTo>
                    <a:pt x="395224" y="179959"/>
                  </a:lnTo>
                  <a:lnTo>
                    <a:pt x="215138" y="360045"/>
                  </a:lnTo>
                  <a:lnTo>
                    <a:pt x="215138" y="270002"/>
                  </a:lnTo>
                  <a:lnTo>
                    <a:pt x="0" y="270002"/>
                  </a:lnTo>
                  <a:close/>
                </a:path>
              </a:pathLst>
            </a:custGeom>
            <a:solidFill>
              <a:srgbClr val="27C46B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297215" y="7999724"/>
            <a:ext cx="2953579" cy="1258576"/>
            <a:chOff x="0" y="0"/>
            <a:chExt cx="3938105" cy="167810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938016" cy="1678051"/>
            </a:xfrm>
            <a:custGeom>
              <a:avLst/>
              <a:gdLst/>
              <a:ahLst/>
              <a:cxnLst/>
              <a:rect l="l" t="t" r="r" b="b"/>
              <a:pathLst>
                <a:path w="3938016" h="1678051">
                  <a:moveTo>
                    <a:pt x="0" y="279654"/>
                  </a:moveTo>
                  <a:cubicBezTo>
                    <a:pt x="0" y="125222"/>
                    <a:pt x="125222" y="0"/>
                    <a:pt x="279654" y="0"/>
                  </a:cubicBezTo>
                  <a:lnTo>
                    <a:pt x="3658362" y="0"/>
                  </a:lnTo>
                  <a:cubicBezTo>
                    <a:pt x="3812794" y="0"/>
                    <a:pt x="3938016" y="125222"/>
                    <a:pt x="3938016" y="279654"/>
                  </a:cubicBezTo>
                  <a:lnTo>
                    <a:pt x="3938016" y="1398397"/>
                  </a:lnTo>
                  <a:cubicBezTo>
                    <a:pt x="3938016" y="1552829"/>
                    <a:pt x="3812794" y="1678051"/>
                    <a:pt x="3658362" y="1678051"/>
                  </a:cubicBezTo>
                  <a:lnTo>
                    <a:pt x="279654" y="1678051"/>
                  </a:lnTo>
                  <a:cubicBezTo>
                    <a:pt x="125222" y="1678051"/>
                    <a:pt x="0" y="1552829"/>
                    <a:pt x="0" y="1398397"/>
                  </a:cubicBezTo>
                  <a:close/>
                </a:path>
              </a:pathLst>
            </a:custGeom>
            <a:solidFill>
              <a:srgbClr val="EAF6EF"/>
            </a:solidFill>
            <a:ln w="28575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938105" cy="1716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DPU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5521226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PRE-PROCESSING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84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What is VVAS / Multiscaler?</a:t>
            </a:r>
          </a:p>
          <a:p>
            <a:pPr algn="l">
              <a:lnSpc>
                <a:spcPts val="3240"/>
              </a:lnSpc>
            </a:pPr>
            <a:endParaRPr lang="en-US" sz="30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19456" y="3159966"/>
            <a:ext cx="9082278" cy="467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VVAS (Vitis Video Analytics SDK):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Xilinx's open-source framework providing GStreamer plugins and hardware kernels for video processing on FPGA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v_multi_scaler: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HLS IP from VVAS that does hardware image preprocessing (resize, format conversion)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Takes the load off the CPU, frees ARM cores for other tasks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Inference runs through VART (Vitis AI Runtime), wrapped by the VVAS plugin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44000" y="3217116"/>
            <a:ext cx="8864622" cy="5959750"/>
            <a:chOff x="0" y="0"/>
            <a:chExt cx="11111954" cy="7470648"/>
          </a:xfrm>
        </p:grpSpPr>
        <p:sp>
          <p:nvSpPr>
            <p:cNvPr id="11" name="Freeform 11" descr="Vitis Video Analytics SDK Diagram"/>
            <p:cNvSpPr/>
            <p:nvPr/>
          </p:nvSpPr>
          <p:spPr>
            <a:xfrm>
              <a:off x="0" y="0"/>
              <a:ext cx="11111992" cy="7470648"/>
            </a:xfrm>
            <a:custGeom>
              <a:avLst/>
              <a:gdLst/>
              <a:ahLst/>
              <a:cxnLst/>
              <a:rect l="l" t="t" r="r" b="b"/>
              <a:pathLst>
                <a:path w="11111992" h="7470648">
                  <a:moveTo>
                    <a:pt x="0" y="0"/>
                  </a:moveTo>
                  <a:lnTo>
                    <a:pt x="11111992" y="0"/>
                  </a:lnTo>
                  <a:lnTo>
                    <a:pt x="11111992" y="7470648"/>
                  </a:lnTo>
                  <a:lnTo>
                    <a:pt x="0" y="7470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89763" y="9683934"/>
            <a:ext cx="9082278" cy="41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https://www.amd.com/en/developer/resources/vitis-video-analytics-sdk.html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46329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OUR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Computer Vision Tasks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29952" y="2710948"/>
            <a:ext cx="5288099" cy="4463100"/>
            <a:chOff x="0" y="0"/>
            <a:chExt cx="7050799" cy="5950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50913" cy="5950838"/>
            </a:xfrm>
            <a:custGeom>
              <a:avLst/>
              <a:gdLst/>
              <a:ahLst/>
              <a:cxnLst/>
              <a:rect l="l" t="t" r="r" b="b"/>
              <a:pathLst>
                <a:path w="7050913" h="5950838">
                  <a:moveTo>
                    <a:pt x="0" y="991870"/>
                  </a:moveTo>
                  <a:cubicBezTo>
                    <a:pt x="0" y="443992"/>
                    <a:pt x="443992" y="0"/>
                    <a:pt x="991870" y="0"/>
                  </a:cubicBezTo>
                  <a:lnTo>
                    <a:pt x="6059043" y="0"/>
                  </a:lnTo>
                  <a:cubicBezTo>
                    <a:pt x="6606794" y="0"/>
                    <a:pt x="7050913" y="443992"/>
                    <a:pt x="7050913" y="991870"/>
                  </a:cubicBezTo>
                  <a:lnTo>
                    <a:pt x="7050913" y="4958968"/>
                  </a:lnTo>
                  <a:cubicBezTo>
                    <a:pt x="7050913" y="5506719"/>
                    <a:pt x="6606921" y="5950838"/>
                    <a:pt x="6059043" y="5950838"/>
                  </a:cubicBezTo>
                  <a:lnTo>
                    <a:pt x="991870" y="5950838"/>
                  </a:lnTo>
                  <a:cubicBezTo>
                    <a:pt x="443992" y="5950838"/>
                    <a:pt x="0" y="5506719"/>
                    <a:pt x="0" y="4958968"/>
                  </a:cubicBezTo>
                  <a:close/>
                </a:path>
              </a:pathLst>
            </a:custGeom>
            <a:solidFill>
              <a:srgbClr val="D6F0E1"/>
            </a:solidFill>
            <a:ln w="38100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7050799" cy="60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39"/>
                </a:lnSpc>
              </a:pPr>
              <a:r>
                <a:rPr lang="en-US" sz="3199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</a:t>
              </a:r>
            </a:p>
            <a:p>
              <a:pPr algn="ctr">
                <a:lnSpc>
                  <a:spcPts val="2939"/>
                </a:lnSpc>
              </a:pPr>
              <a:r>
                <a:rPr lang="en-US" sz="2449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“What is in the image?”</a:t>
              </a:r>
            </a:p>
            <a:p>
              <a:pPr algn="ctr">
                <a:lnSpc>
                  <a:spcPts val="2759"/>
                </a:lnSpc>
              </a:pPr>
              <a:r>
                <a:rPr lang="en-US" sz="22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label for the whole image (e.g. OK / Defective)</a:t>
              </a:r>
            </a:p>
            <a:p>
              <a:pPr algn="ctr">
                <a:lnSpc>
                  <a:spcPts val="2579"/>
                </a:lnSpc>
              </a:pPr>
              <a:r>
                <a:rPr lang="en-US" sz="2149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▶ Our task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07089" y="2718092"/>
            <a:ext cx="5273812" cy="4448812"/>
            <a:chOff x="0" y="0"/>
            <a:chExt cx="7031749" cy="59317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31863" cy="5931788"/>
            </a:xfrm>
            <a:custGeom>
              <a:avLst/>
              <a:gdLst/>
              <a:ahLst/>
              <a:cxnLst/>
              <a:rect l="l" t="t" r="r" b="b"/>
              <a:pathLst>
                <a:path w="7031863" h="5931788">
                  <a:moveTo>
                    <a:pt x="0" y="988695"/>
                  </a:moveTo>
                  <a:cubicBezTo>
                    <a:pt x="0" y="442595"/>
                    <a:pt x="442595" y="0"/>
                    <a:pt x="988695" y="0"/>
                  </a:cubicBezTo>
                  <a:lnTo>
                    <a:pt x="6043168" y="0"/>
                  </a:lnTo>
                  <a:cubicBezTo>
                    <a:pt x="6589141" y="0"/>
                    <a:pt x="7031863" y="442595"/>
                    <a:pt x="7031863" y="988695"/>
                  </a:cubicBezTo>
                  <a:lnTo>
                    <a:pt x="7031863" y="4943093"/>
                  </a:lnTo>
                  <a:cubicBezTo>
                    <a:pt x="7031863" y="5489066"/>
                    <a:pt x="6589268" y="5931788"/>
                    <a:pt x="6043168" y="5931788"/>
                  </a:cubicBezTo>
                  <a:lnTo>
                    <a:pt x="988695" y="5931788"/>
                  </a:lnTo>
                  <a:cubicBezTo>
                    <a:pt x="442595" y="5931788"/>
                    <a:pt x="0" y="5489066"/>
                    <a:pt x="0" y="4943093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7031749" cy="600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39"/>
                </a:lnSpc>
              </a:pPr>
              <a:r>
                <a:rPr lang="en-US" sz="3199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Detection</a:t>
              </a:r>
            </a:p>
            <a:p>
              <a:pPr algn="ctr">
                <a:lnSpc>
                  <a:spcPts val="2939"/>
                </a:lnSpc>
              </a:pPr>
              <a:r>
                <a:rPr lang="en-US" sz="2449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“What and where?”</a:t>
              </a:r>
            </a:p>
            <a:p>
              <a:pPr algn="ctr">
                <a:lnSpc>
                  <a:spcPts val="2759"/>
                </a:lnSpc>
              </a:pPr>
              <a:r>
                <a:rPr lang="en-US" sz="22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bounding box + a class for each object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477093" y="2718092"/>
            <a:ext cx="5273812" cy="4448812"/>
            <a:chOff x="0" y="0"/>
            <a:chExt cx="7031749" cy="59317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31863" cy="5931788"/>
            </a:xfrm>
            <a:custGeom>
              <a:avLst/>
              <a:gdLst/>
              <a:ahLst/>
              <a:cxnLst/>
              <a:rect l="l" t="t" r="r" b="b"/>
              <a:pathLst>
                <a:path w="7031863" h="5931788">
                  <a:moveTo>
                    <a:pt x="0" y="988695"/>
                  </a:moveTo>
                  <a:cubicBezTo>
                    <a:pt x="0" y="442595"/>
                    <a:pt x="442595" y="0"/>
                    <a:pt x="988695" y="0"/>
                  </a:cubicBezTo>
                  <a:lnTo>
                    <a:pt x="6043168" y="0"/>
                  </a:lnTo>
                  <a:cubicBezTo>
                    <a:pt x="6589141" y="0"/>
                    <a:pt x="7031863" y="442595"/>
                    <a:pt x="7031863" y="988695"/>
                  </a:cubicBezTo>
                  <a:lnTo>
                    <a:pt x="7031863" y="4943093"/>
                  </a:lnTo>
                  <a:cubicBezTo>
                    <a:pt x="7031863" y="5489066"/>
                    <a:pt x="6589268" y="5931788"/>
                    <a:pt x="6043168" y="5931788"/>
                  </a:cubicBezTo>
                  <a:lnTo>
                    <a:pt x="988695" y="5931788"/>
                  </a:lnTo>
                  <a:cubicBezTo>
                    <a:pt x="442595" y="5931788"/>
                    <a:pt x="0" y="5489066"/>
                    <a:pt x="0" y="4943093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7031749" cy="600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39"/>
                </a:lnSpc>
              </a:pPr>
              <a:r>
                <a:rPr lang="en-US" sz="3199" b="1">
                  <a:solidFill>
                    <a:srgbClr val="0B6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Segmentation</a:t>
              </a:r>
            </a:p>
            <a:p>
              <a:pPr algn="ctr">
                <a:lnSpc>
                  <a:spcPts val="2939"/>
                </a:lnSpc>
              </a:pPr>
              <a:r>
                <a:rPr lang="en-US" sz="2449" b="1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“Which pixels?”</a:t>
              </a:r>
            </a:p>
            <a:p>
              <a:pPr algn="ctr">
                <a:lnSpc>
                  <a:spcPts val="2759"/>
                </a:lnSpc>
              </a:pPr>
              <a:r>
                <a:rPr lang="en-US" sz="22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per-pixel class mask - the exact object shape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03396" y="7723099"/>
            <a:ext cx="17217123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 do binary classification: </a:t>
            </a:r>
            <a:r>
              <a:rPr lang="en-US" sz="25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OK / Defective - one decision per frame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47853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OUR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Custom defect detection, from PyTorch to the DPU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2663" y="2880589"/>
            <a:ext cx="7840187" cy="575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Model:</a:t>
            </a: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 ResNet-18 (PyTorch) 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174432" lvl="2" indent="-391478" algn="l">
              <a:lnSpc>
                <a:spcPts val="3240"/>
              </a:lnSpc>
              <a:buFont typeface="Arial"/>
              <a:buChar char="⚬"/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Binary classification: </a:t>
            </a: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OK / Defective</a:t>
            </a:r>
          </a:p>
          <a:p>
            <a:pPr marL="1174432" lvl="2" indent="-391478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From model to FPGA, Vitis AI 2.5 flow: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1174432" lvl="2" indent="-391478" algn="l">
              <a:lnSpc>
                <a:spcPts val="3240"/>
              </a:lnSpc>
              <a:buFont typeface="Arial"/>
              <a:buChar char="⚬"/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Train: </a:t>
            </a: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ResNet-18 in PyTorch (FP32) </a:t>
            </a:r>
          </a:p>
          <a:p>
            <a:pPr marL="1174432" lvl="2" indent="-391478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174432" lvl="2" indent="-391478" algn="l">
              <a:lnSpc>
                <a:spcPts val="3240"/>
              </a:lnSpc>
              <a:buFont typeface="Arial"/>
              <a:buChar char="⚬"/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Quantize: </a:t>
            </a: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Vitis AI 2.5 → INT8 </a:t>
            </a:r>
          </a:p>
          <a:p>
            <a:pPr marL="1174432" lvl="2" indent="-391478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174432" lvl="2" indent="-391478" algn="l">
              <a:lnSpc>
                <a:spcPts val="3240"/>
              </a:lnSpc>
              <a:buFont typeface="Arial"/>
              <a:buChar char="⚬"/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Compile: </a:t>
            </a: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Vitis AI compiler → .xmodel for the DPU </a:t>
            </a:r>
          </a:p>
          <a:p>
            <a:pPr marL="1174432" lvl="2" indent="-391478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1174432" lvl="2" indent="-391478" algn="l">
              <a:lnSpc>
                <a:spcPts val="3240"/>
              </a:lnSpc>
              <a:buFont typeface="Arial"/>
              <a:buChar char="⚬"/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Deploy: </a:t>
            </a: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Runs on DPU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5740" y="9732931"/>
            <a:ext cx="13605129" cy="362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https://xilinx.github.io/Vitis-AI/3.0/html/docs/workflow-model-deployment.html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985113" y="2622318"/>
            <a:ext cx="9067819" cy="6312037"/>
            <a:chOff x="0" y="0"/>
            <a:chExt cx="12090425" cy="8416049"/>
          </a:xfrm>
        </p:grpSpPr>
        <p:sp>
          <p:nvSpPr>
            <p:cNvPr id="12" name="Freeform 12" descr="../_images/deployment_workflow.PNG"/>
            <p:cNvSpPr/>
            <p:nvPr/>
          </p:nvSpPr>
          <p:spPr>
            <a:xfrm>
              <a:off x="0" y="0"/>
              <a:ext cx="12090400" cy="8416036"/>
            </a:xfrm>
            <a:custGeom>
              <a:avLst/>
              <a:gdLst/>
              <a:ahLst/>
              <a:cxnLst/>
              <a:rect l="l" t="t" r="r" b="b"/>
              <a:pathLst>
                <a:path w="12090400" h="8416036">
                  <a:moveTo>
                    <a:pt x="0" y="0"/>
                  </a:moveTo>
                  <a:lnTo>
                    <a:pt x="12090400" y="0"/>
                  </a:lnTo>
                  <a:lnTo>
                    <a:pt x="12090400" y="8416036"/>
                  </a:lnTo>
                  <a:lnTo>
                    <a:pt x="0" y="8416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1987670" y="1738356"/>
            <a:ext cx="13358103" cy="8548644"/>
          </a:xfrm>
          <a:custGeom>
            <a:avLst/>
            <a:gdLst/>
            <a:ahLst/>
            <a:cxnLst/>
            <a:rect l="l" t="t" r="r" b="b"/>
            <a:pathLst>
              <a:path w="13358103" h="8548644">
                <a:moveTo>
                  <a:pt x="0" y="0"/>
                </a:moveTo>
                <a:lnTo>
                  <a:pt x="13358103" y="0"/>
                </a:lnTo>
                <a:lnTo>
                  <a:pt x="13358103" y="8548644"/>
                </a:lnTo>
                <a:lnTo>
                  <a:pt x="0" y="8548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TextBox 8"/>
          <p:cNvSpPr txBox="1"/>
          <p:nvPr/>
        </p:nvSpPr>
        <p:spPr>
          <a:xfrm>
            <a:off x="91440" y="83820"/>
            <a:ext cx="48615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Runtime architecture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45567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54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Example GStreamer pipeline (VVAS)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00050" y="2328091"/>
            <a:ext cx="17483814" cy="3473813"/>
            <a:chOff x="0" y="0"/>
            <a:chExt cx="23311752" cy="46317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311865" cy="4631814"/>
            </a:xfrm>
            <a:custGeom>
              <a:avLst/>
              <a:gdLst/>
              <a:ahLst/>
              <a:cxnLst/>
              <a:rect l="l" t="t" r="r" b="b"/>
              <a:pathLst>
                <a:path w="23311865" h="4631814">
                  <a:moveTo>
                    <a:pt x="0" y="772032"/>
                  </a:moveTo>
                  <a:cubicBezTo>
                    <a:pt x="0" y="345567"/>
                    <a:pt x="345567" y="0"/>
                    <a:pt x="772033" y="0"/>
                  </a:cubicBezTo>
                  <a:lnTo>
                    <a:pt x="22539833" y="0"/>
                  </a:lnTo>
                  <a:cubicBezTo>
                    <a:pt x="22966172" y="0"/>
                    <a:pt x="23311865" y="345567"/>
                    <a:pt x="23311865" y="772032"/>
                  </a:cubicBezTo>
                  <a:lnTo>
                    <a:pt x="23311865" y="3859781"/>
                  </a:lnTo>
                  <a:cubicBezTo>
                    <a:pt x="23311865" y="4286120"/>
                    <a:pt x="22966299" y="4631814"/>
                    <a:pt x="22539833" y="4631814"/>
                  </a:cubicBezTo>
                  <a:lnTo>
                    <a:pt x="772033" y="4631814"/>
                  </a:lnTo>
                  <a:cubicBezTo>
                    <a:pt x="345567" y="4631687"/>
                    <a:pt x="0" y="4286120"/>
                    <a:pt x="0" y="3859781"/>
                  </a:cubicBezTo>
                  <a:close/>
                </a:path>
              </a:pathLst>
            </a:custGeom>
            <a:solidFill>
              <a:srgbClr val="1A1A1A"/>
            </a:solidFill>
            <a:ln w="23812" cap="sq">
              <a:solidFill>
                <a:srgbClr val="27C46B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3311752" cy="4641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6E6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gst-launch-1.0 -v \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6E6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aravissrc camera-name="Sentech-STC-MBS202POE" \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6E6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! queue \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6E6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! vvas_xmultisrc kconfig="/opt/xilinx/defect-detect/share/vvas/preprocess.json" \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6E6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! video/x-raw,format=BGR,width=224,height=224 \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6E6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! queue \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6E6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! vvas_xfilter kernels-config="/opt/xilinx/defect-detect/share/vvas/aiinference.json" \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6E6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! queue \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6E6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! kmssink driver-name=xlnx fullscreen-overlay=true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05439" y="6392453"/>
            <a:ext cx="17277121" cy="322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5291" lvl="1" indent="-212645" algn="l">
              <a:lnSpc>
                <a:spcPts val="2819"/>
              </a:lnSpc>
              <a:buFont typeface="Arial"/>
              <a:buChar char="•"/>
            </a:pPr>
            <a:r>
              <a:rPr lang="en-US" sz="234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aravissrc </a:t>
            </a:r>
            <a:r>
              <a:rPr lang="en-US" sz="23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— GStreamer source plugin from Aravis, an open-source GigE Vision driver; pulls Mono8 frames from the camera into the pipeline</a:t>
            </a:r>
          </a:p>
          <a:p>
            <a:pPr algn="l">
              <a:lnSpc>
                <a:spcPts val="2819"/>
              </a:lnSpc>
            </a:pPr>
            <a:endParaRPr lang="en-US" sz="234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25291" lvl="1" indent="-212645" algn="l">
              <a:lnSpc>
                <a:spcPts val="2819"/>
              </a:lnSpc>
              <a:buFont typeface="Arial"/>
              <a:buChar char="•"/>
            </a:pPr>
            <a:r>
              <a:rPr lang="en-US" sz="234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vvas_xmultisrc</a:t>
            </a:r>
            <a:r>
              <a:rPr lang="en-US" sz="23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— HW preprocessing (resize + color convert) on the v_multi_scaler, config set via preprocess.json</a:t>
            </a:r>
          </a:p>
          <a:p>
            <a:pPr algn="l">
              <a:lnSpc>
                <a:spcPts val="2819"/>
              </a:lnSpc>
            </a:pPr>
            <a:endParaRPr lang="en-US" sz="234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25291" lvl="1" indent="-212645" algn="l">
              <a:lnSpc>
                <a:spcPts val="2819"/>
              </a:lnSpc>
              <a:buFont typeface="Arial"/>
              <a:buChar char="•"/>
            </a:pPr>
            <a:r>
              <a:rPr lang="en-US" sz="234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vvas_xfilter</a:t>
            </a:r>
            <a:r>
              <a:rPr lang="en-US" sz="23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— runs the ResNet-18 .xmodel on the DPU via VART, config set via aiinference.json; attaches the OK / Defective result as metadata</a:t>
            </a:r>
          </a:p>
          <a:p>
            <a:pPr algn="l">
              <a:lnSpc>
                <a:spcPts val="2819"/>
              </a:lnSpc>
            </a:pPr>
            <a:endParaRPr lang="en-US" sz="234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25291" lvl="1" indent="-212645" algn="l">
              <a:lnSpc>
                <a:spcPts val="2819"/>
              </a:lnSpc>
              <a:buFont typeface="Arial"/>
              <a:buChar char="•"/>
            </a:pPr>
            <a:r>
              <a:rPr lang="en-US" sz="234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kmssink </a:t>
            </a:r>
            <a:r>
              <a:rPr lang="en-US" sz="23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— displays the frame on DisplayPort (Xilinx DRM/KMS driver)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8095357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RESULT AND 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Resource Utilization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17084" y="2586779"/>
            <a:ext cx="8264845" cy="4109649"/>
            <a:chOff x="0" y="0"/>
            <a:chExt cx="10027044" cy="49858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027031" cy="4985893"/>
            </a:xfrm>
            <a:custGeom>
              <a:avLst/>
              <a:gdLst/>
              <a:ahLst/>
              <a:cxnLst/>
              <a:rect l="l" t="t" r="r" b="b"/>
              <a:pathLst>
                <a:path w="10027031" h="4985893">
                  <a:moveTo>
                    <a:pt x="0" y="0"/>
                  </a:moveTo>
                  <a:lnTo>
                    <a:pt x="10027031" y="0"/>
                  </a:lnTo>
                  <a:lnTo>
                    <a:pt x="10027031" y="4985893"/>
                  </a:lnTo>
                  <a:lnTo>
                    <a:pt x="0" y="4985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36693" y="2421595"/>
            <a:ext cx="8148237" cy="3162472"/>
            <a:chOff x="0" y="0"/>
            <a:chExt cx="11521440" cy="44716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21440" cy="4471670"/>
            </a:xfrm>
            <a:custGeom>
              <a:avLst/>
              <a:gdLst/>
              <a:ahLst/>
              <a:cxnLst/>
              <a:rect l="l" t="t" r="r" b="b"/>
              <a:pathLst>
                <a:path w="11521440" h="4471670">
                  <a:moveTo>
                    <a:pt x="0" y="0"/>
                  </a:moveTo>
                  <a:lnTo>
                    <a:pt x="11521440" y="0"/>
                  </a:lnTo>
                  <a:lnTo>
                    <a:pt x="11521440" y="4471670"/>
                  </a:lnTo>
                  <a:lnTo>
                    <a:pt x="0" y="4471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17084" y="7544412"/>
            <a:ext cx="8264845" cy="2443487"/>
            <a:chOff x="0" y="0"/>
            <a:chExt cx="11469370" cy="3390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69370" cy="3390900"/>
            </a:xfrm>
            <a:custGeom>
              <a:avLst/>
              <a:gdLst/>
              <a:ahLst/>
              <a:cxnLst/>
              <a:rect l="l" t="t" r="r" b="b"/>
              <a:pathLst>
                <a:path w="11469370" h="3390900">
                  <a:moveTo>
                    <a:pt x="0" y="0"/>
                  </a:moveTo>
                  <a:lnTo>
                    <a:pt x="11469370" y="0"/>
                  </a:lnTo>
                  <a:lnTo>
                    <a:pt x="11469370" y="3390900"/>
                  </a:lnTo>
                  <a:lnTo>
                    <a:pt x="0" y="339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" b="-5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36693" y="6273051"/>
            <a:ext cx="8148237" cy="3714849"/>
            <a:chOff x="0" y="0"/>
            <a:chExt cx="11521440" cy="52527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521440" cy="5252720"/>
            </a:xfrm>
            <a:custGeom>
              <a:avLst/>
              <a:gdLst/>
              <a:ahLst/>
              <a:cxnLst/>
              <a:rect l="l" t="t" r="r" b="b"/>
              <a:pathLst>
                <a:path w="11521440" h="5252720">
                  <a:moveTo>
                    <a:pt x="0" y="0"/>
                  </a:moveTo>
                  <a:lnTo>
                    <a:pt x="11521440" y="0"/>
                  </a:lnTo>
                  <a:lnTo>
                    <a:pt x="11521440" y="5252720"/>
                  </a:lnTo>
                  <a:lnTo>
                    <a:pt x="0" y="5252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" r="-4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1440" y="83820"/>
            <a:ext cx="8095357" cy="69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RESULT AND 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" y="1040606"/>
            <a:ext cx="11704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Embedded World - 2026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72194" y="2829121"/>
            <a:ext cx="8087106" cy="6429179"/>
            <a:chOff x="0" y="0"/>
            <a:chExt cx="6351380" cy="50492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1380" cy="5049292"/>
            </a:xfrm>
            <a:custGeom>
              <a:avLst/>
              <a:gdLst/>
              <a:ahLst/>
              <a:cxnLst/>
              <a:rect l="l" t="t" r="r" b="b"/>
              <a:pathLst>
                <a:path w="6351380" h="5049292">
                  <a:moveTo>
                    <a:pt x="0" y="0"/>
                  </a:moveTo>
                  <a:lnTo>
                    <a:pt x="6351380" y="0"/>
                  </a:lnTo>
                  <a:lnTo>
                    <a:pt x="6351380" y="5049292"/>
                  </a:lnTo>
                  <a:lnTo>
                    <a:pt x="0" y="5049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65" r="-20665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1837284" y="2020537"/>
            <a:ext cx="6429179" cy="8046348"/>
            <a:chOff x="0" y="0"/>
            <a:chExt cx="5068024" cy="6342814"/>
          </a:xfrm>
        </p:grpSpPr>
        <p:sp>
          <p:nvSpPr>
            <p:cNvPr id="12" name="Freeform 12"/>
            <p:cNvSpPr/>
            <p:nvPr/>
          </p:nvSpPr>
          <p:spPr>
            <a:xfrm rot="-59999">
              <a:off x="-54963" y="-43742"/>
              <a:ext cx="5177950" cy="6430297"/>
            </a:xfrm>
            <a:custGeom>
              <a:avLst/>
              <a:gdLst/>
              <a:ahLst/>
              <a:cxnLst/>
              <a:rect l="l" t="t" r="r" b="b"/>
              <a:pathLst>
                <a:path w="5177950" h="6430297">
                  <a:moveTo>
                    <a:pt x="110698" y="0"/>
                  </a:moveTo>
                  <a:lnTo>
                    <a:pt x="5177950" y="88450"/>
                  </a:lnTo>
                  <a:lnTo>
                    <a:pt x="5067253" y="6430297"/>
                  </a:lnTo>
                  <a:lnTo>
                    <a:pt x="0" y="6341848"/>
                  </a:lnTo>
                  <a:lnTo>
                    <a:pt x="110698" y="0"/>
                  </a:lnTo>
                  <a:close/>
                </a:path>
              </a:pathLst>
            </a:custGeom>
            <a:blipFill>
              <a:blip r:embed="rId4"/>
              <a:stretch>
                <a:fillRect t="-23265" r="-988" b="-21303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702594"/>
            <a:chOff x="0" y="0"/>
            <a:chExt cx="24409400" cy="2270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2270125"/>
            </a:xfrm>
            <a:custGeom>
              <a:avLst/>
              <a:gdLst/>
              <a:ahLst/>
              <a:cxnLst/>
              <a:rect l="l" t="t" r="r" b="b"/>
              <a:pathLst>
                <a:path w="24409400" h="2270125">
                  <a:moveTo>
                    <a:pt x="0" y="0"/>
                  </a:moveTo>
                  <a:lnTo>
                    <a:pt x="24409400" y="0"/>
                  </a:lnTo>
                  <a:lnTo>
                    <a:pt x="24409400" y="2270125"/>
                  </a:lnTo>
                  <a:lnTo>
                    <a:pt x="0" y="2270125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84979" y="76200"/>
            <a:ext cx="1821723" cy="1607344"/>
            <a:chOff x="0" y="0"/>
            <a:chExt cx="2428964" cy="2143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9002" cy="2143125"/>
            </a:xfrm>
            <a:custGeom>
              <a:avLst/>
              <a:gdLst/>
              <a:ahLst/>
              <a:cxnLst/>
              <a:rect l="l" t="t" r="r" b="b"/>
              <a:pathLst>
                <a:path w="2429002" h="2143125">
                  <a:moveTo>
                    <a:pt x="0" y="0"/>
                  </a:moveTo>
                  <a:lnTo>
                    <a:pt x="2429002" y="0"/>
                  </a:lnTo>
                  <a:lnTo>
                    <a:pt x="2429002" y="2143125"/>
                  </a:lnTo>
                  <a:lnTo>
                    <a:pt x="0" y="214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337" r="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AutoShape 6"/>
          <p:cNvSpPr/>
          <p:nvPr/>
        </p:nvSpPr>
        <p:spPr>
          <a:xfrm rot="17400">
            <a:off x="-21488" y="889635"/>
            <a:ext cx="8470687" cy="0"/>
          </a:xfrm>
          <a:prstGeom prst="line">
            <a:avLst/>
          </a:prstGeom>
          <a:ln w="19050" cap="rnd">
            <a:solidFill>
              <a:srgbClr val="00B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91440" y="1788319"/>
            <a:ext cx="18059613" cy="8431582"/>
          </a:xfrm>
          <a:custGeom>
            <a:avLst/>
            <a:gdLst/>
            <a:ahLst/>
            <a:cxnLst/>
            <a:rect l="l" t="t" r="r" b="b"/>
            <a:pathLst>
              <a:path w="18059613" h="8431582">
                <a:moveTo>
                  <a:pt x="0" y="0"/>
                </a:moveTo>
                <a:lnTo>
                  <a:pt x="18059613" y="0"/>
                </a:lnTo>
                <a:lnTo>
                  <a:pt x="18059613" y="8431582"/>
                </a:lnTo>
                <a:lnTo>
                  <a:pt x="0" y="8431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TextBox 8"/>
          <p:cNvSpPr txBox="1"/>
          <p:nvPr/>
        </p:nvSpPr>
        <p:spPr>
          <a:xfrm>
            <a:off x="91440" y="83820"/>
            <a:ext cx="5242560" cy="69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ANADOLOGIC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" y="1040606"/>
            <a:ext cx="1170432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2127</Words>
  <Application>Microsoft Office PowerPoint</Application>
  <PresentationFormat>Özel</PresentationFormat>
  <Paragraphs>465</Paragraphs>
  <Slides>29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9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29</vt:i4>
      </vt:variant>
    </vt:vector>
  </HeadingPairs>
  <TitlesOfParts>
    <vt:vector size="39" baseType="lpstr">
      <vt:lpstr>Calibri (MS) Italics</vt:lpstr>
      <vt:lpstr>Calibri</vt:lpstr>
      <vt:lpstr>Calibri (MS)</vt:lpstr>
      <vt:lpstr>Courier New</vt:lpstr>
      <vt:lpstr>Aptos</vt:lpstr>
      <vt:lpstr>Calibri (MS) Bold</vt:lpstr>
      <vt:lpstr>Arimo Bold</vt:lpstr>
      <vt:lpstr>Arial</vt:lpstr>
      <vt:lpstr>Arimo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FPGA_conference_presentation_revision_5.pptx</dc:title>
  <cp:lastModifiedBy>yunusemre kök</cp:lastModifiedBy>
  <cp:revision>3</cp:revision>
  <dcterms:created xsi:type="dcterms:W3CDTF">2006-08-16T00:00:00Z</dcterms:created>
  <dcterms:modified xsi:type="dcterms:W3CDTF">2026-07-01T23:16:33Z</dcterms:modified>
  <dc:identifier>DAHNquasjNo</dc:identifier>
</cp:coreProperties>
</file>